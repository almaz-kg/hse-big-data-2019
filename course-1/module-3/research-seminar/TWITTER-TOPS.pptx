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e7d324d2a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e7d324d2a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ef112e4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ef112e4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eed82368c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eed82368c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e7d324d2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e7d324d2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eed82368c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eed82368c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eed82368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eed8236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7eed82368c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7eed82368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7eed82368c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7eed82368c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6e7d324d2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6e7d324d2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7eed82368c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7eed82368c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7eed82368c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7eed82368c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6e7d324d2a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6e7d324d2a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7eed82368c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7eed82368c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6e7d324d2a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6e7d324d2a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72dbf0ecd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72dbf0ec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7eed82368c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7eed82368c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6e7d324d2a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6e7d324d2a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public.tableau.com/views/Tweets_15861851167550/Analysisoftweetsinthebegginingof2018?:display_count=y&amp;publish=yes&amp;:origin=viz_share_link" TargetMode="External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youtu.be/RuqaVryDRd0" TargetMode="External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TWITTER-TOPS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Research seminar HW3: Group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3450" y="3455325"/>
            <a:ext cx="33705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Almaz Murzabekov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Daria Kiseleva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Habibullah Wardak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738525" y="3455325"/>
            <a:ext cx="42054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Sidhardha Neupane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Ka Kit Law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 Zhonghua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PROJECT DESCRIPTION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53000" y="1229875"/>
            <a:ext cx="69411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</a:t>
            </a:r>
            <a:r>
              <a:rPr lang="ru"/>
              <a:t>eam-pet project for dealing with big data processing and lambda architecture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analyzing tweets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display</a:t>
            </a:r>
            <a:r>
              <a:rPr lang="ru"/>
              <a:t> top #,  </a:t>
            </a:r>
            <a:r>
              <a:rPr lang="ru"/>
              <a:t>users, etc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display emerging trends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Sample data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1.4gb raw json data (tweets)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PROJECT DESCRIPTIONS (cntd)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Project milestones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Stage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Stage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Project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Top 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Top hashtags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Top activities,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Project activities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Meetings (Coding-nights, hakatons, beer &amp; pizza nights, etc)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Commitments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075" y="1045975"/>
            <a:ext cx="3648225" cy="303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>
            <p:ph type="title"/>
          </p:nvPr>
        </p:nvSpPr>
        <p:spPr>
          <a:xfrm>
            <a:off x="3879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TWEET CONTENT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557" y="1045969"/>
            <a:ext cx="3615519" cy="200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50" y="2942425"/>
            <a:ext cx="2530275" cy="8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4006" y="2792168"/>
            <a:ext cx="2803038" cy="78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77676" y="3370475"/>
            <a:ext cx="2325275" cy="15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9251" y="3481675"/>
            <a:ext cx="2388424" cy="12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STAGE 1: EXPLORING THE DATASET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3454628" y="1945882"/>
            <a:ext cx="1494600" cy="6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SPARK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5636683" y="1945882"/>
            <a:ext cx="1175100" cy="6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ableau</a:t>
            </a:r>
            <a:endParaRPr/>
          </a:p>
        </p:txBody>
      </p:sp>
      <p:cxnSp>
        <p:nvCxnSpPr>
          <p:cNvPr id="119" name="Google Shape;119;p17"/>
          <p:cNvCxnSpPr>
            <a:stCxn id="117" idx="3"/>
            <a:endCxn id="118" idx="1"/>
          </p:cNvCxnSpPr>
          <p:nvPr/>
        </p:nvCxnSpPr>
        <p:spPr>
          <a:xfrm>
            <a:off x="4949228" y="2260132"/>
            <a:ext cx="6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7"/>
          <p:cNvSpPr/>
          <p:nvPr/>
        </p:nvSpPr>
        <p:spPr>
          <a:xfrm>
            <a:off x="1696975" y="1758758"/>
            <a:ext cx="1075464" cy="1002888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Tweets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6948404" y="2905160"/>
            <a:ext cx="15339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" name="Google Shape;122;p17"/>
          <p:cNvCxnSpPr>
            <a:endCxn id="117" idx="1"/>
          </p:cNvCxnSpPr>
          <p:nvPr/>
        </p:nvCxnSpPr>
        <p:spPr>
          <a:xfrm>
            <a:off x="2681828" y="2260132"/>
            <a:ext cx="7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7"/>
          <p:cNvSpPr txBox="1"/>
          <p:nvPr/>
        </p:nvSpPr>
        <p:spPr>
          <a:xfrm>
            <a:off x="1742475" y="2905160"/>
            <a:ext cx="15339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ctrTitle"/>
          </p:nvPr>
        </p:nvSpPr>
        <p:spPr>
          <a:xfrm>
            <a:off x="598100" y="1775226"/>
            <a:ext cx="8222100" cy="12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LIVE DEMO: STAGE 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STAGE 2: </a:t>
            </a:r>
            <a:r>
              <a:rPr lang="ru"/>
              <a:t>TOP LEVEL ARCHITECTURE</a:t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1132050" y="2497675"/>
            <a:ext cx="981600" cy="38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2607269" y="2497675"/>
            <a:ext cx="2571300" cy="38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STREAMING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1202281" y="1412578"/>
            <a:ext cx="981504" cy="607770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Tweets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5003675" y="3231475"/>
            <a:ext cx="1399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6786425" y="1918650"/>
            <a:ext cx="586500" cy="101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  BI</a:t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5765225" y="1918650"/>
            <a:ext cx="638400" cy="101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HIVE</a:t>
            </a:r>
            <a:endParaRPr/>
          </a:p>
        </p:txBody>
      </p:sp>
      <p:cxnSp>
        <p:nvCxnSpPr>
          <p:cNvPr id="140" name="Google Shape;140;p19"/>
          <p:cNvCxnSpPr>
            <a:stCxn id="134" idx="3"/>
            <a:endCxn id="135" idx="1"/>
          </p:cNvCxnSpPr>
          <p:nvPr/>
        </p:nvCxnSpPr>
        <p:spPr>
          <a:xfrm>
            <a:off x="2113650" y="2688175"/>
            <a:ext cx="49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9"/>
          <p:cNvCxnSpPr>
            <a:stCxn id="135" idx="3"/>
            <a:endCxn id="139" idx="1"/>
          </p:cNvCxnSpPr>
          <p:nvPr/>
        </p:nvCxnSpPr>
        <p:spPr>
          <a:xfrm flipH="1" rot="10800000">
            <a:off x="5178569" y="2425075"/>
            <a:ext cx="586800" cy="2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9"/>
          <p:cNvCxnSpPr>
            <a:stCxn id="139" idx="3"/>
            <a:endCxn id="138" idx="1"/>
          </p:cNvCxnSpPr>
          <p:nvPr/>
        </p:nvCxnSpPr>
        <p:spPr>
          <a:xfrm>
            <a:off x="6403625" y="2425050"/>
            <a:ext cx="3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9"/>
          <p:cNvSpPr/>
          <p:nvPr/>
        </p:nvSpPr>
        <p:spPr>
          <a:xfrm>
            <a:off x="4073978" y="1877675"/>
            <a:ext cx="1104600" cy="38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BATCH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2607350" y="1877675"/>
            <a:ext cx="1072500" cy="38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      HDFS</a:t>
            </a:r>
            <a:endParaRPr/>
          </a:p>
        </p:txBody>
      </p:sp>
      <p:cxnSp>
        <p:nvCxnSpPr>
          <p:cNvPr id="145" name="Google Shape;145;p19"/>
          <p:cNvCxnSpPr>
            <a:stCxn id="143" idx="3"/>
            <a:endCxn id="139" idx="1"/>
          </p:cNvCxnSpPr>
          <p:nvPr/>
        </p:nvCxnSpPr>
        <p:spPr>
          <a:xfrm>
            <a:off x="5178578" y="2068175"/>
            <a:ext cx="586500" cy="3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9"/>
          <p:cNvCxnSpPr>
            <a:stCxn id="144" idx="3"/>
            <a:endCxn id="143" idx="1"/>
          </p:cNvCxnSpPr>
          <p:nvPr/>
        </p:nvCxnSpPr>
        <p:spPr>
          <a:xfrm>
            <a:off x="3679850" y="2068175"/>
            <a:ext cx="39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9"/>
          <p:cNvCxnSpPr>
            <a:stCxn id="134" idx="3"/>
            <a:endCxn id="144" idx="1"/>
          </p:cNvCxnSpPr>
          <p:nvPr/>
        </p:nvCxnSpPr>
        <p:spPr>
          <a:xfrm flipH="1" rot="10800000">
            <a:off x="2113650" y="2068075"/>
            <a:ext cx="493800" cy="6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9"/>
          <p:cNvCxnSpPr/>
          <p:nvPr/>
        </p:nvCxnSpPr>
        <p:spPr>
          <a:xfrm>
            <a:off x="1132050" y="3417300"/>
            <a:ext cx="51726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49" name="Google Shape;149;p19"/>
          <p:cNvCxnSpPr>
            <a:stCxn id="136" idx="2"/>
            <a:endCxn id="134" idx="0"/>
          </p:cNvCxnSpPr>
          <p:nvPr/>
        </p:nvCxnSpPr>
        <p:spPr>
          <a:xfrm flipH="1">
            <a:off x="1622982" y="1997332"/>
            <a:ext cx="18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9"/>
          <p:cNvSpPr txBox="1"/>
          <p:nvPr/>
        </p:nvSpPr>
        <p:spPr>
          <a:xfrm>
            <a:off x="3126925" y="3452150"/>
            <a:ext cx="1399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docker-images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HORTONWORKS DATA PLATFORM HDP (sandbox)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APACHE HADOOP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APACHE HIVE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APACHE </a:t>
            </a:r>
            <a:r>
              <a:rPr lang="ru"/>
              <a:t>SPARK (BATCH &amp; </a:t>
            </a:r>
            <a:r>
              <a:rPr lang="ru"/>
              <a:t>STREAMING)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KAFKA &amp; KAFKA-HDFS CONNECTOR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TABLEAU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Python (3.x+)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Docker images, docker compose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IntelliJ Idea: Community edition, others IDE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Git, git client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FRAMEWORKS &amp; TOOLS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PROJECT MODULES</a:t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1099650" y="2838125"/>
            <a:ext cx="1072500" cy="55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</a:t>
            </a:r>
            <a:endParaRPr/>
          </a:p>
        </p:txBody>
      </p:sp>
      <p:sp>
        <p:nvSpPr>
          <p:cNvPr id="163" name="Google Shape;163;p21"/>
          <p:cNvSpPr/>
          <p:nvPr/>
        </p:nvSpPr>
        <p:spPr>
          <a:xfrm>
            <a:off x="3755725" y="2838000"/>
            <a:ext cx="2259600" cy="5547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STREAMING</a:t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1190581" y="1160953"/>
            <a:ext cx="981504" cy="607770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Tweets</a:t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7312075" y="1971400"/>
            <a:ext cx="586500" cy="14268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  BI</a:t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6344500" y="1966000"/>
            <a:ext cx="638400" cy="14268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HIVE</a:t>
            </a:r>
            <a:endParaRPr/>
          </a:p>
        </p:txBody>
      </p:sp>
      <p:cxnSp>
        <p:nvCxnSpPr>
          <p:cNvPr id="167" name="Google Shape;167;p21"/>
          <p:cNvCxnSpPr>
            <a:stCxn id="162" idx="3"/>
            <a:endCxn id="163" idx="1"/>
          </p:cNvCxnSpPr>
          <p:nvPr/>
        </p:nvCxnSpPr>
        <p:spPr>
          <a:xfrm>
            <a:off x="2172150" y="3115475"/>
            <a:ext cx="158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1"/>
          <p:cNvCxnSpPr>
            <a:stCxn id="163" idx="3"/>
            <a:endCxn id="166" idx="1"/>
          </p:cNvCxnSpPr>
          <p:nvPr/>
        </p:nvCxnSpPr>
        <p:spPr>
          <a:xfrm flipH="1" rot="10800000">
            <a:off x="6015325" y="2679450"/>
            <a:ext cx="329100" cy="4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1"/>
          <p:cNvCxnSpPr>
            <a:stCxn id="166" idx="3"/>
            <a:endCxn id="165" idx="1"/>
          </p:cNvCxnSpPr>
          <p:nvPr/>
        </p:nvCxnSpPr>
        <p:spPr>
          <a:xfrm>
            <a:off x="6982900" y="2679400"/>
            <a:ext cx="3291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1"/>
          <p:cNvSpPr/>
          <p:nvPr/>
        </p:nvSpPr>
        <p:spPr>
          <a:xfrm>
            <a:off x="5002975" y="1966000"/>
            <a:ext cx="1012200" cy="6201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BATCH</a:t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3752225" y="1966000"/>
            <a:ext cx="1012200" cy="6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HDFS</a:t>
            </a:r>
            <a:endParaRPr/>
          </a:p>
        </p:txBody>
      </p:sp>
      <p:cxnSp>
        <p:nvCxnSpPr>
          <p:cNvPr id="172" name="Google Shape;172;p21"/>
          <p:cNvCxnSpPr>
            <a:stCxn id="170" idx="3"/>
            <a:endCxn id="166" idx="1"/>
          </p:cNvCxnSpPr>
          <p:nvPr/>
        </p:nvCxnSpPr>
        <p:spPr>
          <a:xfrm>
            <a:off x="6015175" y="2276050"/>
            <a:ext cx="329400" cy="40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1"/>
          <p:cNvCxnSpPr>
            <a:stCxn id="171" idx="3"/>
            <a:endCxn id="170" idx="1"/>
          </p:cNvCxnSpPr>
          <p:nvPr/>
        </p:nvCxnSpPr>
        <p:spPr>
          <a:xfrm>
            <a:off x="4764425" y="2276050"/>
            <a:ext cx="23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1"/>
          <p:cNvCxnSpPr>
            <a:stCxn id="162" idx="3"/>
            <a:endCxn id="175" idx="2"/>
          </p:cNvCxnSpPr>
          <p:nvPr/>
        </p:nvCxnSpPr>
        <p:spPr>
          <a:xfrm flipH="1" rot="10800000">
            <a:off x="2172150" y="2585975"/>
            <a:ext cx="734100" cy="5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1"/>
          <p:cNvCxnSpPr>
            <a:stCxn id="164" idx="2"/>
            <a:endCxn id="162" idx="0"/>
          </p:cNvCxnSpPr>
          <p:nvPr/>
        </p:nvCxnSpPr>
        <p:spPr>
          <a:xfrm>
            <a:off x="1613082" y="1745707"/>
            <a:ext cx="22800" cy="109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1"/>
          <p:cNvSpPr/>
          <p:nvPr/>
        </p:nvSpPr>
        <p:spPr>
          <a:xfrm>
            <a:off x="1099650" y="1966000"/>
            <a:ext cx="1072500" cy="6201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</a:t>
            </a:r>
            <a:r>
              <a:rPr lang="ru"/>
              <a:t>witter-API   </a:t>
            </a:r>
            <a:r>
              <a:rPr lang="ru"/>
              <a:t>  </a:t>
            </a:r>
            <a:r>
              <a:rPr lang="ru"/>
              <a:t>simulator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2370025" y="1966000"/>
            <a:ext cx="1072500" cy="6201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</a:t>
            </a:r>
            <a:r>
              <a:rPr lang="ru"/>
              <a:t>2</a:t>
            </a:r>
            <a:r>
              <a:rPr lang="ru"/>
              <a:t>hdfs</a:t>
            </a:r>
            <a:endParaRPr/>
          </a:p>
        </p:txBody>
      </p:sp>
      <p:cxnSp>
        <p:nvCxnSpPr>
          <p:cNvPr id="178" name="Google Shape;178;p21"/>
          <p:cNvCxnSpPr>
            <a:stCxn id="175" idx="3"/>
            <a:endCxn id="171" idx="1"/>
          </p:cNvCxnSpPr>
          <p:nvPr/>
        </p:nvCxnSpPr>
        <p:spPr>
          <a:xfrm>
            <a:off x="3442525" y="2276050"/>
            <a:ext cx="30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TWITTER API SIMULATOR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python program that read tweets from file and put them to the kafka topic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params: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kafka connection params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number of tweets per second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noise factor, number in percentage that represents the randomness of tweet stream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Dev team: Habibullah, Almaz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KAFKA-2-HDFS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311700" y="1229875"/>
            <a:ext cx="71514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C</a:t>
            </a:r>
            <a:r>
              <a:rPr lang="ru"/>
              <a:t>onfiguration of kafka-2-hdfs tool for uploading tweets from kafka topic to hdfs folder (partitioned by date)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Dev team: Habibullah, Li Zhonghua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HDFS + SPARK BATCH + HIVE</a:t>
            </a:r>
            <a:endParaRPr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read tweets from hdfs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compute statistics (aka features)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save as hive table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Dev team:  Sid, Ka Kit Law, Almaz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 + SPARK STREAMING + HIVE</a:t>
            </a:r>
            <a:endParaRPr/>
          </a:p>
        </p:txBody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read tweets from kafka topic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compute statistics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save as hive table (separate table from batch)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Dev team:  Ka Kit Law, Almaz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HIVE (SERVING LAYER)</a:t>
            </a:r>
            <a:endParaRPr/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union/join/group -  batch and streaming tables into one table (via sql-view)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hive sql 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Dev team: Li Zhonghua, Almaz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BUSINESS INTELLIGENCE</a:t>
            </a:r>
            <a:endParaRPr/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311700" y="1229875"/>
            <a:ext cx="2074800" cy="14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TABLEAU PUBLIC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ru" u="sng">
                <a:solidFill>
                  <a:schemeClr val="hlink"/>
                </a:solidFill>
                <a:hlinkClick r:id="rId3"/>
              </a:rPr>
              <a:t>Stage 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1950" y="1054275"/>
            <a:ext cx="6340349" cy="365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BUSINESS INTELLIGENCE</a:t>
            </a:r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Analysis </a:t>
            </a:r>
            <a:r>
              <a:rPr lang="ru" u="sng">
                <a:solidFill>
                  <a:schemeClr val="hlink"/>
                </a:solidFill>
                <a:hlinkClick r:id="rId3"/>
              </a:rPr>
              <a:t>EXO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275" y="1157377"/>
            <a:ext cx="4942449" cy="32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ctrTitle"/>
          </p:nvPr>
        </p:nvSpPr>
        <p:spPr>
          <a:xfrm>
            <a:off x="598100" y="1775226"/>
            <a:ext cx="8222100" cy="12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LIVE DEMO: STAGE 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311700" y="1256050"/>
            <a:ext cx="8520600" cy="237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