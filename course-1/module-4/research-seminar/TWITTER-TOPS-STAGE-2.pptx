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6e7d324d2a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6e7d324d2a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7ef112e42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7ef112e42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7eed82368c_1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7eed82368c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6e7d324d2a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6e7d324d2a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7eed82368c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7eed82368c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7eed82368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7eed82368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7eed82368c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7eed82368c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7eed82368c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7eed82368c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8620af51c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8620af51c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6e7d324d2a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6e7d324d2a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7eed82368c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7eed82368c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7eed82368c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7eed82368c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6e7d324d2a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6e7d324d2a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7eed82368c_1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7eed82368c_1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6e7d324d2a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6e7d324d2a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7eed82368c_1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7eed82368c_1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8620af51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8620af51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6e7d324d2a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6e7d324d2a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000">
        <p:push dir="r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public.tableau.com/views/Tweets_15861851167550/Analysisoftweetsinthebegginingof2018?:display_count=y&amp;publish=yes&amp;:origin=viz_share_link" TargetMode="External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ithub.com/rs-hse/research-seminar-project" TargetMode="External"/><Relationship Id="rId4" Type="http://schemas.openxmlformats.org/officeDocument/2006/relationships/hyperlink" Target="https://public.tableau.com/profile/dasha1540#!/vizhome/Tweets_15861851167550/Analysisoftweetsinthebegginingof2018" TargetMode="External"/><Relationship Id="rId5" Type="http://schemas.openxmlformats.org/officeDocument/2006/relationships/hyperlink" Target="https://en.wikipedia.org/wiki/Lambda_architecture" TargetMode="External"/><Relationship Id="rId6" Type="http://schemas.openxmlformats.org/officeDocument/2006/relationships/hyperlink" Target="https://www.cloudera.com/downloads/hdp.html" TargetMode="External"/><Relationship Id="rId7" Type="http://schemas.openxmlformats.org/officeDocument/2006/relationships/hyperlink" Target="https://www.cloudera.com/tutorials/sandbox-deployment-and-install-guide/3.html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TWITTER-TOPS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Research seminar HW3: Group project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3450" y="3455325"/>
            <a:ext cx="3370500" cy="13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-"/>
            </a:pPr>
            <a:r>
              <a:rPr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Almaz Murzabekov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-"/>
            </a:pPr>
            <a:r>
              <a:rPr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Daria Kiseleva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-"/>
            </a:pPr>
            <a:r>
              <a:rPr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Habibullah Wardak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738525" y="3455325"/>
            <a:ext cx="4205400" cy="15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-"/>
            </a:pPr>
            <a:r>
              <a:rPr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Sidhardha Neupane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-"/>
            </a:pPr>
            <a:r>
              <a:rPr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Ka Kit Law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-"/>
            </a:pPr>
            <a:r>
              <a:rPr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Li Zhonghua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PROJECT DESCRIPTION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53000" y="1229875"/>
            <a:ext cx="69411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</a:t>
            </a:r>
            <a:r>
              <a:rPr lang="ru"/>
              <a:t>eam pet-project for getting hands on experience with big data frameworks and</a:t>
            </a:r>
            <a:r>
              <a:rPr lang="ru"/>
              <a:t> lambda</a:t>
            </a:r>
            <a:r>
              <a:rPr lang="ru"/>
              <a:t> architecture (LA)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implementing LA (speed, batch, serving layers)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analyzing tweets (batch &amp; streaming processing)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displaying on Tableau BI: top #, users, emerging trends, etc)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Sample data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1.4gb raw json data (tweets)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PROJECT DESCRIPTIONS (cntd)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Project milestones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Stage 1 (~end of march 2020)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Stage 2 (~end of april 2020)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Project features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Top users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Top hashtags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Top activities, etc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Project activities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Meetings (coding-nights, hakatons, beer &amp; pizza nights, etc)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Commitments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8075" y="1045975"/>
            <a:ext cx="3648225" cy="303254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>
            <p:ph type="title"/>
          </p:nvPr>
        </p:nvSpPr>
        <p:spPr>
          <a:xfrm>
            <a:off x="3879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TWEET CONTENT</a:t>
            </a:r>
            <a:endParaRPr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557" y="1045969"/>
            <a:ext cx="3615519" cy="200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250" y="2942425"/>
            <a:ext cx="2530275" cy="83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64006" y="2792168"/>
            <a:ext cx="2803038" cy="785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77676" y="3370475"/>
            <a:ext cx="2325275" cy="150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9251" y="3481675"/>
            <a:ext cx="2388424" cy="124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STAGE 1: EXPLORING THE DATASET</a:t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3454628" y="1945882"/>
            <a:ext cx="1494600" cy="62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SPARK</a:t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5636683" y="1945882"/>
            <a:ext cx="1175100" cy="62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ru">
                <a:latin typeface="Roboto"/>
                <a:ea typeface="Roboto"/>
                <a:cs typeface="Roboto"/>
                <a:sym typeface="Roboto"/>
              </a:rPr>
              <a:t>ableau</a:t>
            </a:r>
            <a:endParaRPr/>
          </a:p>
        </p:txBody>
      </p:sp>
      <p:cxnSp>
        <p:nvCxnSpPr>
          <p:cNvPr id="119" name="Google Shape;119;p17"/>
          <p:cNvCxnSpPr>
            <a:stCxn id="117" idx="3"/>
            <a:endCxn id="118" idx="1"/>
          </p:cNvCxnSpPr>
          <p:nvPr/>
        </p:nvCxnSpPr>
        <p:spPr>
          <a:xfrm>
            <a:off x="4949228" y="2260132"/>
            <a:ext cx="68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" name="Google Shape;120;p17"/>
          <p:cNvSpPr/>
          <p:nvPr/>
        </p:nvSpPr>
        <p:spPr>
          <a:xfrm>
            <a:off x="1696975" y="1758758"/>
            <a:ext cx="1075464" cy="1002888"/>
          </a:xfrm>
          <a:prstGeom prst="flowChartMulti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Tweets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6948404" y="2905160"/>
            <a:ext cx="1533900" cy="7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" name="Google Shape;122;p17"/>
          <p:cNvCxnSpPr>
            <a:endCxn id="117" idx="1"/>
          </p:cNvCxnSpPr>
          <p:nvPr/>
        </p:nvCxnSpPr>
        <p:spPr>
          <a:xfrm>
            <a:off x="2681828" y="2260132"/>
            <a:ext cx="77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" name="Google Shape;123;p17"/>
          <p:cNvSpPr txBox="1"/>
          <p:nvPr/>
        </p:nvSpPr>
        <p:spPr>
          <a:xfrm>
            <a:off x="1742475" y="2905160"/>
            <a:ext cx="1533900" cy="7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ctrTitle"/>
          </p:nvPr>
        </p:nvSpPr>
        <p:spPr>
          <a:xfrm>
            <a:off x="598100" y="1775226"/>
            <a:ext cx="8222100" cy="129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LIVE DEMO: STAGE 1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STAGE 2: </a:t>
            </a:r>
            <a:r>
              <a:rPr lang="ru"/>
              <a:t>TOP LEVEL ARCHITECTURE</a:t>
            </a:r>
            <a:endParaRPr/>
          </a:p>
        </p:txBody>
      </p:sp>
      <p:sp>
        <p:nvSpPr>
          <p:cNvPr id="134" name="Google Shape;134;p19"/>
          <p:cNvSpPr/>
          <p:nvPr/>
        </p:nvSpPr>
        <p:spPr>
          <a:xfrm>
            <a:off x="1132050" y="2497675"/>
            <a:ext cx="981600" cy="38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KAFKA</a:t>
            </a:r>
            <a:endParaRPr/>
          </a:p>
        </p:txBody>
      </p:sp>
      <p:sp>
        <p:nvSpPr>
          <p:cNvPr id="135" name="Google Shape;135;p19"/>
          <p:cNvSpPr/>
          <p:nvPr/>
        </p:nvSpPr>
        <p:spPr>
          <a:xfrm>
            <a:off x="2607269" y="2497675"/>
            <a:ext cx="2571300" cy="38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STREAMING</a:t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>
            <a:off x="1202281" y="1412578"/>
            <a:ext cx="981504" cy="607770"/>
          </a:xfrm>
          <a:prstGeom prst="flowChartMulti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Tweets</a:t>
            </a:r>
            <a:endParaRPr/>
          </a:p>
        </p:txBody>
      </p:sp>
      <p:sp>
        <p:nvSpPr>
          <p:cNvPr id="137" name="Google Shape;137;p19"/>
          <p:cNvSpPr txBox="1"/>
          <p:nvPr/>
        </p:nvSpPr>
        <p:spPr>
          <a:xfrm>
            <a:off x="5003675" y="3231475"/>
            <a:ext cx="13998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6786425" y="1918650"/>
            <a:ext cx="586500" cy="101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  BI</a:t>
            </a:r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5765225" y="1918650"/>
            <a:ext cx="638400" cy="101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HIVE</a:t>
            </a:r>
            <a:endParaRPr/>
          </a:p>
        </p:txBody>
      </p:sp>
      <p:cxnSp>
        <p:nvCxnSpPr>
          <p:cNvPr id="140" name="Google Shape;140;p19"/>
          <p:cNvCxnSpPr>
            <a:stCxn id="134" idx="3"/>
            <a:endCxn id="135" idx="1"/>
          </p:cNvCxnSpPr>
          <p:nvPr/>
        </p:nvCxnSpPr>
        <p:spPr>
          <a:xfrm>
            <a:off x="2113650" y="2688175"/>
            <a:ext cx="49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19"/>
          <p:cNvCxnSpPr>
            <a:stCxn id="135" idx="3"/>
            <a:endCxn id="139" idx="1"/>
          </p:cNvCxnSpPr>
          <p:nvPr/>
        </p:nvCxnSpPr>
        <p:spPr>
          <a:xfrm flipH="1" rot="10800000">
            <a:off x="5178569" y="2425075"/>
            <a:ext cx="586800" cy="26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19"/>
          <p:cNvCxnSpPr>
            <a:stCxn id="139" idx="3"/>
            <a:endCxn id="138" idx="1"/>
          </p:cNvCxnSpPr>
          <p:nvPr/>
        </p:nvCxnSpPr>
        <p:spPr>
          <a:xfrm>
            <a:off x="6403625" y="2425050"/>
            <a:ext cx="38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19"/>
          <p:cNvSpPr/>
          <p:nvPr/>
        </p:nvSpPr>
        <p:spPr>
          <a:xfrm>
            <a:off x="4073978" y="1877675"/>
            <a:ext cx="1104600" cy="38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BATCH</a:t>
            </a: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2607350" y="1877675"/>
            <a:ext cx="1072500" cy="38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      HDFS</a:t>
            </a:r>
            <a:endParaRPr/>
          </a:p>
        </p:txBody>
      </p:sp>
      <p:cxnSp>
        <p:nvCxnSpPr>
          <p:cNvPr id="145" name="Google Shape;145;p19"/>
          <p:cNvCxnSpPr>
            <a:stCxn id="143" idx="3"/>
            <a:endCxn id="139" idx="1"/>
          </p:cNvCxnSpPr>
          <p:nvPr/>
        </p:nvCxnSpPr>
        <p:spPr>
          <a:xfrm>
            <a:off x="5178578" y="2068175"/>
            <a:ext cx="586500" cy="35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19"/>
          <p:cNvCxnSpPr>
            <a:stCxn id="144" idx="3"/>
            <a:endCxn id="143" idx="1"/>
          </p:cNvCxnSpPr>
          <p:nvPr/>
        </p:nvCxnSpPr>
        <p:spPr>
          <a:xfrm>
            <a:off x="3679850" y="2068175"/>
            <a:ext cx="39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19"/>
          <p:cNvCxnSpPr>
            <a:stCxn id="134" idx="3"/>
            <a:endCxn id="144" idx="1"/>
          </p:cNvCxnSpPr>
          <p:nvPr/>
        </p:nvCxnSpPr>
        <p:spPr>
          <a:xfrm flipH="1" rot="10800000">
            <a:off x="2113650" y="2068075"/>
            <a:ext cx="493800" cy="6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19"/>
          <p:cNvCxnSpPr/>
          <p:nvPr/>
        </p:nvCxnSpPr>
        <p:spPr>
          <a:xfrm>
            <a:off x="1132050" y="3417300"/>
            <a:ext cx="5172600" cy="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149" name="Google Shape;149;p19"/>
          <p:cNvCxnSpPr>
            <a:stCxn id="136" idx="2"/>
            <a:endCxn id="134" idx="0"/>
          </p:cNvCxnSpPr>
          <p:nvPr/>
        </p:nvCxnSpPr>
        <p:spPr>
          <a:xfrm flipH="1">
            <a:off x="1622982" y="1997332"/>
            <a:ext cx="18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" name="Google Shape;150;p19"/>
          <p:cNvSpPr txBox="1"/>
          <p:nvPr/>
        </p:nvSpPr>
        <p:spPr>
          <a:xfrm>
            <a:off x="3126925" y="3452150"/>
            <a:ext cx="13998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docker-images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HORTONWORKS DATA PLATFORM HDP (sandbox)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APACHE HADOOP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APACHE HIVE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APACHE </a:t>
            </a:r>
            <a:r>
              <a:rPr lang="ru"/>
              <a:t>SPARK (BATCH &amp; </a:t>
            </a:r>
            <a:r>
              <a:rPr lang="ru"/>
              <a:t>STREAMING)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KAFKA &amp; KAFKA-HDFS CONNECTOR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TABLEAU BI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TOOLS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Python (3.x+)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Docker images, docker compose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IntelliJ Idea: Community edition, others IDE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Git, git client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FRAMEWORKS &amp; TOOLS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PROJECT MODULES</a:t>
            </a:r>
            <a:endParaRPr/>
          </a:p>
        </p:txBody>
      </p:sp>
      <p:sp>
        <p:nvSpPr>
          <p:cNvPr id="162" name="Google Shape;162;p21"/>
          <p:cNvSpPr/>
          <p:nvPr/>
        </p:nvSpPr>
        <p:spPr>
          <a:xfrm>
            <a:off x="1099650" y="2838125"/>
            <a:ext cx="1072500" cy="554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KAFKA</a:t>
            </a:r>
            <a:endParaRPr/>
          </a:p>
        </p:txBody>
      </p:sp>
      <p:sp>
        <p:nvSpPr>
          <p:cNvPr id="163" name="Google Shape;163;p21"/>
          <p:cNvSpPr/>
          <p:nvPr/>
        </p:nvSpPr>
        <p:spPr>
          <a:xfrm>
            <a:off x="3755725" y="2838000"/>
            <a:ext cx="2259600" cy="5547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STREAMING</a:t>
            </a:r>
            <a:endParaRPr/>
          </a:p>
        </p:txBody>
      </p:sp>
      <p:sp>
        <p:nvSpPr>
          <p:cNvPr id="164" name="Google Shape;164;p21"/>
          <p:cNvSpPr/>
          <p:nvPr/>
        </p:nvSpPr>
        <p:spPr>
          <a:xfrm>
            <a:off x="1190581" y="1160953"/>
            <a:ext cx="981504" cy="607770"/>
          </a:xfrm>
          <a:prstGeom prst="flowChartMulti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Tweets</a:t>
            </a:r>
            <a:endParaRPr/>
          </a:p>
        </p:txBody>
      </p:sp>
      <p:sp>
        <p:nvSpPr>
          <p:cNvPr id="165" name="Google Shape;165;p21"/>
          <p:cNvSpPr/>
          <p:nvPr/>
        </p:nvSpPr>
        <p:spPr>
          <a:xfrm>
            <a:off x="7312075" y="1971400"/>
            <a:ext cx="586500" cy="14268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  BI</a:t>
            </a:r>
            <a:endParaRPr/>
          </a:p>
        </p:txBody>
      </p:sp>
      <p:sp>
        <p:nvSpPr>
          <p:cNvPr id="166" name="Google Shape;166;p21"/>
          <p:cNvSpPr/>
          <p:nvPr/>
        </p:nvSpPr>
        <p:spPr>
          <a:xfrm>
            <a:off x="6344500" y="1966000"/>
            <a:ext cx="638400" cy="14268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HIVE</a:t>
            </a:r>
            <a:endParaRPr/>
          </a:p>
        </p:txBody>
      </p:sp>
      <p:cxnSp>
        <p:nvCxnSpPr>
          <p:cNvPr id="167" name="Google Shape;167;p21"/>
          <p:cNvCxnSpPr>
            <a:stCxn id="162" idx="3"/>
            <a:endCxn id="163" idx="1"/>
          </p:cNvCxnSpPr>
          <p:nvPr/>
        </p:nvCxnSpPr>
        <p:spPr>
          <a:xfrm>
            <a:off x="2172150" y="3115475"/>
            <a:ext cx="158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21"/>
          <p:cNvCxnSpPr>
            <a:stCxn id="163" idx="3"/>
            <a:endCxn id="166" idx="1"/>
          </p:cNvCxnSpPr>
          <p:nvPr/>
        </p:nvCxnSpPr>
        <p:spPr>
          <a:xfrm flipH="1" rot="10800000">
            <a:off x="6015325" y="2679450"/>
            <a:ext cx="329100" cy="43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21"/>
          <p:cNvCxnSpPr>
            <a:stCxn id="166" idx="3"/>
            <a:endCxn id="165" idx="1"/>
          </p:cNvCxnSpPr>
          <p:nvPr/>
        </p:nvCxnSpPr>
        <p:spPr>
          <a:xfrm>
            <a:off x="6982900" y="2679400"/>
            <a:ext cx="329100" cy="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" name="Google Shape;170;p21"/>
          <p:cNvSpPr/>
          <p:nvPr/>
        </p:nvSpPr>
        <p:spPr>
          <a:xfrm>
            <a:off x="5002975" y="1966000"/>
            <a:ext cx="1012200" cy="6201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BATCH</a:t>
            </a:r>
            <a:endParaRPr/>
          </a:p>
        </p:txBody>
      </p:sp>
      <p:sp>
        <p:nvSpPr>
          <p:cNvPr id="171" name="Google Shape;171;p21"/>
          <p:cNvSpPr/>
          <p:nvPr/>
        </p:nvSpPr>
        <p:spPr>
          <a:xfrm>
            <a:off x="3752225" y="1966000"/>
            <a:ext cx="1012200" cy="62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HDFS</a:t>
            </a:r>
            <a:endParaRPr/>
          </a:p>
        </p:txBody>
      </p:sp>
      <p:cxnSp>
        <p:nvCxnSpPr>
          <p:cNvPr id="172" name="Google Shape;172;p21"/>
          <p:cNvCxnSpPr>
            <a:stCxn id="170" idx="3"/>
            <a:endCxn id="166" idx="1"/>
          </p:cNvCxnSpPr>
          <p:nvPr/>
        </p:nvCxnSpPr>
        <p:spPr>
          <a:xfrm>
            <a:off x="6015175" y="2276050"/>
            <a:ext cx="329400" cy="40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21"/>
          <p:cNvCxnSpPr>
            <a:stCxn id="171" idx="3"/>
            <a:endCxn id="170" idx="1"/>
          </p:cNvCxnSpPr>
          <p:nvPr/>
        </p:nvCxnSpPr>
        <p:spPr>
          <a:xfrm>
            <a:off x="4764425" y="2276050"/>
            <a:ext cx="23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21"/>
          <p:cNvCxnSpPr>
            <a:stCxn id="162" idx="3"/>
            <a:endCxn id="175" idx="2"/>
          </p:cNvCxnSpPr>
          <p:nvPr/>
        </p:nvCxnSpPr>
        <p:spPr>
          <a:xfrm flipH="1" rot="10800000">
            <a:off x="2172150" y="2585975"/>
            <a:ext cx="734100" cy="52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21"/>
          <p:cNvCxnSpPr>
            <a:stCxn id="164" idx="2"/>
            <a:endCxn id="162" idx="0"/>
          </p:cNvCxnSpPr>
          <p:nvPr/>
        </p:nvCxnSpPr>
        <p:spPr>
          <a:xfrm>
            <a:off x="1613082" y="1745707"/>
            <a:ext cx="22800" cy="109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" name="Google Shape;177;p21"/>
          <p:cNvSpPr/>
          <p:nvPr/>
        </p:nvSpPr>
        <p:spPr>
          <a:xfrm>
            <a:off x="1099650" y="1966000"/>
            <a:ext cx="1072500" cy="6201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</a:t>
            </a:r>
            <a:r>
              <a:rPr lang="ru"/>
              <a:t>witter-API   </a:t>
            </a:r>
            <a:r>
              <a:rPr lang="ru"/>
              <a:t>  </a:t>
            </a:r>
            <a:r>
              <a:rPr lang="ru"/>
              <a:t>simulator</a:t>
            </a:r>
            <a:endParaRPr/>
          </a:p>
        </p:txBody>
      </p:sp>
      <p:sp>
        <p:nvSpPr>
          <p:cNvPr id="175" name="Google Shape;175;p21"/>
          <p:cNvSpPr/>
          <p:nvPr/>
        </p:nvSpPr>
        <p:spPr>
          <a:xfrm>
            <a:off x="2370025" y="1966000"/>
            <a:ext cx="1072500" cy="6201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kafka</a:t>
            </a:r>
            <a:r>
              <a:rPr lang="ru"/>
              <a:t>2</a:t>
            </a:r>
            <a:r>
              <a:rPr lang="ru"/>
              <a:t>hdfs</a:t>
            </a:r>
            <a:endParaRPr/>
          </a:p>
        </p:txBody>
      </p:sp>
      <p:cxnSp>
        <p:nvCxnSpPr>
          <p:cNvPr id="178" name="Google Shape;178;p21"/>
          <p:cNvCxnSpPr>
            <a:stCxn id="175" idx="3"/>
            <a:endCxn id="171" idx="1"/>
          </p:cNvCxnSpPr>
          <p:nvPr/>
        </p:nvCxnSpPr>
        <p:spPr>
          <a:xfrm>
            <a:off x="3442525" y="2276050"/>
            <a:ext cx="30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/>
          <p:nvPr>
            <p:ph type="title"/>
          </p:nvPr>
        </p:nvSpPr>
        <p:spPr>
          <a:xfrm>
            <a:off x="311700" y="3807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PROJECT MODULES</a:t>
            </a:r>
            <a:endParaRPr/>
          </a:p>
        </p:txBody>
      </p:sp>
      <p:sp>
        <p:nvSpPr>
          <p:cNvPr id="184" name="Google Shape;184;p22"/>
          <p:cNvSpPr/>
          <p:nvPr/>
        </p:nvSpPr>
        <p:spPr>
          <a:xfrm>
            <a:off x="1099650" y="2838125"/>
            <a:ext cx="1072500" cy="554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KAFKA</a:t>
            </a:r>
            <a:endParaRPr/>
          </a:p>
        </p:txBody>
      </p:sp>
      <p:sp>
        <p:nvSpPr>
          <p:cNvPr id="185" name="Google Shape;185;p22"/>
          <p:cNvSpPr/>
          <p:nvPr/>
        </p:nvSpPr>
        <p:spPr>
          <a:xfrm>
            <a:off x="3755725" y="2838000"/>
            <a:ext cx="2259600" cy="554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STREAMING</a:t>
            </a:r>
            <a:endParaRPr/>
          </a:p>
        </p:txBody>
      </p:sp>
      <p:sp>
        <p:nvSpPr>
          <p:cNvPr id="186" name="Google Shape;186;p22"/>
          <p:cNvSpPr/>
          <p:nvPr/>
        </p:nvSpPr>
        <p:spPr>
          <a:xfrm>
            <a:off x="1190581" y="1160953"/>
            <a:ext cx="981504" cy="607770"/>
          </a:xfrm>
          <a:prstGeom prst="flowChartMulti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Tweets</a:t>
            </a:r>
            <a:endParaRPr/>
          </a:p>
        </p:txBody>
      </p:sp>
      <p:sp>
        <p:nvSpPr>
          <p:cNvPr id="187" name="Google Shape;187;p22"/>
          <p:cNvSpPr/>
          <p:nvPr/>
        </p:nvSpPr>
        <p:spPr>
          <a:xfrm>
            <a:off x="7312075" y="1971400"/>
            <a:ext cx="586500" cy="142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  BI</a:t>
            </a:r>
            <a:endParaRPr/>
          </a:p>
        </p:txBody>
      </p:sp>
      <p:sp>
        <p:nvSpPr>
          <p:cNvPr id="188" name="Google Shape;188;p22"/>
          <p:cNvSpPr/>
          <p:nvPr/>
        </p:nvSpPr>
        <p:spPr>
          <a:xfrm>
            <a:off x="6344500" y="1966000"/>
            <a:ext cx="638400" cy="142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HIVE</a:t>
            </a:r>
            <a:endParaRPr/>
          </a:p>
        </p:txBody>
      </p:sp>
      <p:cxnSp>
        <p:nvCxnSpPr>
          <p:cNvPr id="189" name="Google Shape;189;p22"/>
          <p:cNvCxnSpPr>
            <a:stCxn id="184" idx="3"/>
            <a:endCxn id="185" idx="1"/>
          </p:cNvCxnSpPr>
          <p:nvPr/>
        </p:nvCxnSpPr>
        <p:spPr>
          <a:xfrm>
            <a:off x="2172150" y="3115475"/>
            <a:ext cx="158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22"/>
          <p:cNvCxnSpPr>
            <a:stCxn id="185" idx="3"/>
            <a:endCxn id="188" idx="1"/>
          </p:cNvCxnSpPr>
          <p:nvPr/>
        </p:nvCxnSpPr>
        <p:spPr>
          <a:xfrm flipH="1" rot="10800000">
            <a:off x="6015325" y="2679450"/>
            <a:ext cx="329100" cy="43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22"/>
          <p:cNvCxnSpPr>
            <a:stCxn id="188" idx="3"/>
            <a:endCxn id="187" idx="1"/>
          </p:cNvCxnSpPr>
          <p:nvPr/>
        </p:nvCxnSpPr>
        <p:spPr>
          <a:xfrm>
            <a:off x="6982900" y="2679400"/>
            <a:ext cx="329100" cy="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" name="Google Shape;192;p22"/>
          <p:cNvSpPr/>
          <p:nvPr/>
        </p:nvSpPr>
        <p:spPr>
          <a:xfrm>
            <a:off x="5002975" y="1966000"/>
            <a:ext cx="1012200" cy="62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BATCH</a:t>
            </a: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3752225" y="1966000"/>
            <a:ext cx="1012200" cy="62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HDFS</a:t>
            </a:r>
            <a:endParaRPr/>
          </a:p>
        </p:txBody>
      </p:sp>
      <p:cxnSp>
        <p:nvCxnSpPr>
          <p:cNvPr id="194" name="Google Shape;194;p22"/>
          <p:cNvCxnSpPr>
            <a:stCxn id="192" idx="3"/>
            <a:endCxn id="188" idx="1"/>
          </p:cNvCxnSpPr>
          <p:nvPr/>
        </p:nvCxnSpPr>
        <p:spPr>
          <a:xfrm>
            <a:off x="6015175" y="2276050"/>
            <a:ext cx="329400" cy="40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" name="Google Shape;195;p22"/>
          <p:cNvCxnSpPr>
            <a:stCxn id="193" idx="3"/>
            <a:endCxn id="192" idx="1"/>
          </p:cNvCxnSpPr>
          <p:nvPr/>
        </p:nvCxnSpPr>
        <p:spPr>
          <a:xfrm>
            <a:off x="4764425" y="2276050"/>
            <a:ext cx="23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22"/>
          <p:cNvCxnSpPr>
            <a:stCxn id="184" idx="3"/>
            <a:endCxn id="197" idx="2"/>
          </p:cNvCxnSpPr>
          <p:nvPr/>
        </p:nvCxnSpPr>
        <p:spPr>
          <a:xfrm flipH="1" rot="10800000">
            <a:off x="2172150" y="2585975"/>
            <a:ext cx="734100" cy="52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" name="Google Shape;198;p22"/>
          <p:cNvCxnSpPr>
            <a:stCxn id="186" idx="2"/>
            <a:endCxn id="184" idx="0"/>
          </p:cNvCxnSpPr>
          <p:nvPr/>
        </p:nvCxnSpPr>
        <p:spPr>
          <a:xfrm>
            <a:off x="1613082" y="1745707"/>
            <a:ext cx="22800" cy="109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9" name="Google Shape;199;p22"/>
          <p:cNvSpPr/>
          <p:nvPr/>
        </p:nvSpPr>
        <p:spPr>
          <a:xfrm>
            <a:off x="1099650" y="1966000"/>
            <a:ext cx="1072500" cy="6201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Twitter-API     simulator</a:t>
            </a:r>
            <a:endParaRPr/>
          </a:p>
        </p:txBody>
      </p:sp>
      <p:sp>
        <p:nvSpPr>
          <p:cNvPr id="197" name="Google Shape;197;p22"/>
          <p:cNvSpPr/>
          <p:nvPr/>
        </p:nvSpPr>
        <p:spPr>
          <a:xfrm>
            <a:off x="2370025" y="1966000"/>
            <a:ext cx="1072500" cy="62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kafka2hdfs</a:t>
            </a:r>
            <a:endParaRPr/>
          </a:p>
        </p:txBody>
      </p:sp>
      <p:cxnSp>
        <p:nvCxnSpPr>
          <p:cNvPr id="200" name="Google Shape;200;p22"/>
          <p:cNvCxnSpPr>
            <a:stCxn id="197" idx="3"/>
            <a:endCxn id="193" idx="1"/>
          </p:cNvCxnSpPr>
          <p:nvPr/>
        </p:nvCxnSpPr>
        <p:spPr>
          <a:xfrm>
            <a:off x="3442525" y="2276050"/>
            <a:ext cx="30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TWITTER API SIMULATOR</a:t>
            </a:r>
            <a:endParaRPr/>
          </a:p>
        </p:txBody>
      </p:sp>
      <p:sp>
        <p:nvSpPr>
          <p:cNvPr id="206" name="Google Shape;206;p23"/>
          <p:cNvSpPr txBox="1"/>
          <p:nvPr>
            <p:ph idx="1" type="body"/>
          </p:nvPr>
        </p:nvSpPr>
        <p:spPr>
          <a:xfrm>
            <a:off x="311700" y="103702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python program that read tweets from file and put them to the kafka topic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params: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kafka connection params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number of tweets per second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noise factor, number in percentage that represents the randomness of tweet stream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Dev team: Habibullah, Almaz</a:t>
            </a:r>
            <a:endParaRPr/>
          </a:p>
        </p:txBody>
      </p:sp>
      <p:grpSp>
        <p:nvGrpSpPr>
          <p:cNvPr id="207" name="Google Shape;207;p23"/>
          <p:cNvGrpSpPr/>
          <p:nvPr/>
        </p:nvGrpSpPr>
        <p:grpSpPr>
          <a:xfrm>
            <a:off x="614425" y="3374387"/>
            <a:ext cx="5593929" cy="1037713"/>
            <a:chOff x="620275" y="3690362"/>
            <a:chExt cx="5593929" cy="1037713"/>
          </a:xfrm>
        </p:grpSpPr>
        <p:sp>
          <p:nvSpPr>
            <p:cNvPr id="208" name="Google Shape;208;p23"/>
            <p:cNvSpPr/>
            <p:nvPr/>
          </p:nvSpPr>
          <p:spPr>
            <a:xfrm>
              <a:off x="620275" y="4322304"/>
              <a:ext cx="882300" cy="402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KAFKA</a:t>
              </a:r>
              <a:endParaRPr sz="1000"/>
            </a:p>
          </p:txBody>
        </p:sp>
        <p:sp>
          <p:nvSpPr>
            <p:cNvPr id="209" name="Google Shape;209;p23"/>
            <p:cNvSpPr/>
            <p:nvPr/>
          </p:nvSpPr>
          <p:spPr>
            <a:xfrm>
              <a:off x="2805670" y="4322213"/>
              <a:ext cx="1859100" cy="402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STREAMING</a:t>
              </a:r>
              <a:endParaRPr sz="1000"/>
            </a:p>
          </p:txBody>
        </p:sp>
        <p:sp>
          <p:nvSpPr>
            <p:cNvPr id="210" name="Google Shape;210;p23"/>
            <p:cNvSpPr/>
            <p:nvPr/>
          </p:nvSpPr>
          <p:spPr>
            <a:xfrm>
              <a:off x="5731804" y="3694275"/>
              <a:ext cx="482400" cy="1033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latin typeface="Roboto"/>
                  <a:ea typeface="Roboto"/>
                  <a:cs typeface="Roboto"/>
                  <a:sym typeface="Roboto"/>
                </a:rPr>
                <a:t>  BI</a:t>
              </a:r>
              <a:endParaRPr sz="1000"/>
            </a:p>
          </p:txBody>
        </p:sp>
        <p:sp>
          <p:nvSpPr>
            <p:cNvPr id="211" name="Google Shape;211;p23"/>
            <p:cNvSpPr/>
            <p:nvPr/>
          </p:nvSpPr>
          <p:spPr>
            <a:xfrm>
              <a:off x="4935691" y="3690362"/>
              <a:ext cx="525000" cy="1033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HIVE</a:t>
              </a:r>
              <a:endParaRPr sz="1000"/>
            </a:p>
          </p:txBody>
        </p:sp>
        <p:cxnSp>
          <p:nvCxnSpPr>
            <p:cNvPr id="212" name="Google Shape;212;p23"/>
            <p:cNvCxnSpPr>
              <a:stCxn id="208" idx="3"/>
              <a:endCxn id="209" idx="1"/>
            </p:cNvCxnSpPr>
            <p:nvPr/>
          </p:nvCxnSpPr>
          <p:spPr>
            <a:xfrm>
              <a:off x="1502575" y="4523304"/>
              <a:ext cx="1303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3" name="Google Shape;213;p23"/>
            <p:cNvCxnSpPr>
              <a:stCxn id="209" idx="3"/>
              <a:endCxn id="211" idx="1"/>
            </p:cNvCxnSpPr>
            <p:nvPr/>
          </p:nvCxnSpPr>
          <p:spPr>
            <a:xfrm flipH="1" rot="10800000">
              <a:off x="4664770" y="4207313"/>
              <a:ext cx="270900" cy="315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4" name="Google Shape;214;p23"/>
            <p:cNvCxnSpPr>
              <a:stCxn id="211" idx="3"/>
              <a:endCxn id="210" idx="1"/>
            </p:cNvCxnSpPr>
            <p:nvPr/>
          </p:nvCxnSpPr>
          <p:spPr>
            <a:xfrm>
              <a:off x="5460691" y="4207262"/>
              <a:ext cx="271200" cy="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5" name="Google Shape;215;p23"/>
            <p:cNvSpPr/>
            <p:nvPr/>
          </p:nvSpPr>
          <p:spPr>
            <a:xfrm>
              <a:off x="3831896" y="3690362"/>
              <a:ext cx="832800" cy="449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BATCH</a:t>
              </a:r>
              <a:endParaRPr sz="1000"/>
            </a:p>
          </p:txBody>
        </p:sp>
        <p:sp>
          <p:nvSpPr>
            <p:cNvPr id="216" name="Google Shape;216;p23"/>
            <p:cNvSpPr/>
            <p:nvPr/>
          </p:nvSpPr>
          <p:spPr>
            <a:xfrm>
              <a:off x="2802790" y="3690362"/>
              <a:ext cx="832800" cy="449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HDFS</a:t>
              </a:r>
              <a:endParaRPr sz="1000"/>
            </a:p>
          </p:txBody>
        </p:sp>
        <p:cxnSp>
          <p:nvCxnSpPr>
            <p:cNvPr id="217" name="Google Shape;217;p23"/>
            <p:cNvCxnSpPr>
              <a:stCxn id="215" idx="3"/>
              <a:endCxn id="211" idx="1"/>
            </p:cNvCxnSpPr>
            <p:nvPr/>
          </p:nvCxnSpPr>
          <p:spPr>
            <a:xfrm>
              <a:off x="4664696" y="3915212"/>
              <a:ext cx="270900" cy="29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8" name="Google Shape;218;p23"/>
            <p:cNvCxnSpPr>
              <a:stCxn id="216" idx="3"/>
              <a:endCxn id="215" idx="1"/>
            </p:cNvCxnSpPr>
            <p:nvPr/>
          </p:nvCxnSpPr>
          <p:spPr>
            <a:xfrm>
              <a:off x="3635590" y="3915212"/>
              <a:ext cx="196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9" name="Google Shape;219;p23"/>
            <p:cNvCxnSpPr>
              <a:stCxn id="208" idx="3"/>
              <a:endCxn id="220" idx="2"/>
            </p:cNvCxnSpPr>
            <p:nvPr/>
          </p:nvCxnSpPr>
          <p:spPr>
            <a:xfrm flipH="1" rot="10800000">
              <a:off x="1502575" y="4140204"/>
              <a:ext cx="604200" cy="383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1" name="Google Shape;221;p23"/>
            <p:cNvCxnSpPr>
              <a:endCxn id="208" idx="0"/>
            </p:cNvCxnSpPr>
            <p:nvPr/>
          </p:nvCxnSpPr>
          <p:spPr>
            <a:xfrm>
              <a:off x="1047325" y="3809304"/>
              <a:ext cx="14100" cy="51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2" name="Google Shape;222;p23"/>
            <p:cNvSpPr/>
            <p:nvPr/>
          </p:nvSpPr>
          <p:spPr>
            <a:xfrm>
              <a:off x="620275" y="3690362"/>
              <a:ext cx="882300" cy="449700"/>
            </a:xfrm>
            <a:prstGeom prst="rect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Twitter-API     simulator</a:t>
              </a:r>
              <a:endParaRPr sz="1000"/>
            </a:p>
          </p:txBody>
        </p:sp>
        <p:sp>
          <p:nvSpPr>
            <p:cNvPr id="220" name="Google Shape;220;p23"/>
            <p:cNvSpPr/>
            <p:nvPr/>
          </p:nvSpPr>
          <p:spPr>
            <a:xfrm>
              <a:off x="1665528" y="3690362"/>
              <a:ext cx="882300" cy="449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kafka2hdfs</a:t>
              </a:r>
              <a:endParaRPr sz="1000"/>
            </a:p>
          </p:txBody>
        </p:sp>
        <p:cxnSp>
          <p:nvCxnSpPr>
            <p:cNvPr id="223" name="Google Shape;223;p23"/>
            <p:cNvCxnSpPr>
              <a:stCxn id="220" idx="3"/>
              <a:endCxn id="216" idx="1"/>
            </p:cNvCxnSpPr>
            <p:nvPr/>
          </p:nvCxnSpPr>
          <p:spPr>
            <a:xfrm>
              <a:off x="2547828" y="3915212"/>
              <a:ext cx="255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KAFKA-2-HDFS</a:t>
            </a:r>
            <a:endParaRPr/>
          </a:p>
        </p:txBody>
      </p:sp>
      <p:sp>
        <p:nvSpPr>
          <p:cNvPr id="229" name="Google Shape;229;p24"/>
          <p:cNvSpPr txBox="1"/>
          <p:nvPr>
            <p:ph idx="1" type="body"/>
          </p:nvPr>
        </p:nvSpPr>
        <p:spPr>
          <a:xfrm>
            <a:off x="311700" y="1229875"/>
            <a:ext cx="71514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C</a:t>
            </a:r>
            <a:r>
              <a:rPr lang="ru"/>
              <a:t>onfiguration of kafka-2-hdfs tool for uploading tweets from kafka topic to hdfs folder (partitioned by date)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Dev team: Habibullah, Li Zhonghua</a:t>
            </a:r>
            <a:endParaRPr/>
          </a:p>
        </p:txBody>
      </p:sp>
      <p:grpSp>
        <p:nvGrpSpPr>
          <p:cNvPr id="230" name="Google Shape;230;p24"/>
          <p:cNvGrpSpPr/>
          <p:nvPr/>
        </p:nvGrpSpPr>
        <p:grpSpPr>
          <a:xfrm>
            <a:off x="866050" y="2765812"/>
            <a:ext cx="5593929" cy="1037713"/>
            <a:chOff x="620275" y="3690362"/>
            <a:chExt cx="5593929" cy="1037713"/>
          </a:xfrm>
        </p:grpSpPr>
        <p:sp>
          <p:nvSpPr>
            <p:cNvPr id="231" name="Google Shape;231;p24"/>
            <p:cNvSpPr/>
            <p:nvPr/>
          </p:nvSpPr>
          <p:spPr>
            <a:xfrm>
              <a:off x="620275" y="4322304"/>
              <a:ext cx="882300" cy="402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KAFKA</a:t>
              </a:r>
              <a:endParaRPr sz="1000"/>
            </a:p>
          </p:txBody>
        </p:sp>
        <p:sp>
          <p:nvSpPr>
            <p:cNvPr id="232" name="Google Shape;232;p24"/>
            <p:cNvSpPr/>
            <p:nvPr/>
          </p:nvSpPr>
          <p:spPr>
            <a:xfrm>
              <a:off x="2805670" y="4322213"/>
              <a:ext cx="1859100" cy="402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STREAMING</a:t>
              </a:r>
              <a:endParaRPr sz="1000"/>
            </a:p>
          </p:txBody>
        </p:sp>
        <p:sp>
          <p:nvSpPr>
            <p:cNvPr id="233" name="Google Shape;233;p24"/>
            <p:cNvSpPr/>
            <p:nvPr/>
          </p:nvSpPr>
          <p:spPr>
            <a:xfrm>
              <a:off x="5731804" y="3694275"/>
              <a:ext cx="482400" cy="1033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latin typeface="Roboto"/>
                  <a:ea typeface="Roboto"/>
                  <a:cs typeface="Roboto"/>
                  <a:sym typeface="Roboto"/>
                </a:rPr>
                <a:t>  BI</a:t>
              </a:r>
              <a:endParaRPr sz="1000"/>
            </a:p>
          </p:txBody>
        </p:sp>
        <p:sp>
          <p:nvSpPr>
            <p:cNvPr id="234" name="Google Shape;234;p24"/>
            <p:cNvSpPr/>
            <p:nvPr/>
          </p:nvSpPr>
          <p:spPr>
            <a:xfrm>
              <a:off x="4935691" y="3690362"/>
              <a:ext cx="525000" cy="1033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HIVE</a:t>
              </a:r>
              <a:endParaRPr sz="1000"/>
            </a:p>
          </p:txBody>
        </p:sp>
        <p:cxnSp>
          <p:nvCxnSpPr>
            <p:cNvPr id="235" name="Google Shape;235;p24"/>
            <p:cNvCxnSpPr>
              <a:stCxn id="231" idx="3"/>
              <a:endCxn id="232" idx="1"/>
            </p:cNvCxnSpPr>
            <p:nvPr/>
          </p:nvCxnSpPr>
          <p:spPr>
            <a:xfrm>
              <a:off x="1502575" y="4523304"/>
              <a:ext cx="1303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6" name="Google Shape;236;p24"/>
            <p:cNvCxnSpPr>
              <a:stCxn id="232" idx="3"/>
              <a:endCxn id="234" idx="1"/>
            </p:cNvCxnSpPr>
            <p:nvPr/>
          </p:nvCxnSpPr>
          <p:spPr>
            <a:xfrm flipH="1" rot="10800000">
              <a:off x="4664770" y="4207313"/>
              <a:ext cx="270900" cy="315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7" name="Google Shape;237;p24"/>
            <p:cNvCxnSpPr>
              <a:stCxn id="234" idx="3"/>
              <a:endCxn id="233" idx="1"/>
            </p:cNvCxnSpPr>
            <p:nvPr/>
          </p:nvCxnSpPr>
          <p:spPr>
            <a:xfrm>
              <a:off x="5460691" y="4207262"/>
              <a:ext cx="271200" cy="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8" name="Google Shape;238;p24"/>
            <p:cNvSpPr/>
            <p:nvPr/>
          </p:nvSpPr>
          <p:spPr>
            <a:xfrm>
              <a:off x="3831896" y="3690362"/>
              <a:ext cx="832800" cy="449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BATCH</a:t>
              </a:r>
              <a:endParaRPr sz="1000"/>
            </a:p>
          </p:txBody>
        </p:sp>
        <p:sp>
          <p:nvSpPr>
            <p:cNvPr id="239" name="Google Shape;239;p24"/>
            <p:cNvSpPr/>
            <p:nvPr/>
          </p:nvSpPr>
          <p:spPr>
            <a:xfrm>
              <a:off x="2802790" y="3690362"/>
              <a:ext cx="832800" cy="449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HDFS</a:t>
              </a:r>
              <a:endParaRPr sz="1000"/>
            </a:p>
          </p:txBody>
        </p:sp>
        <p:cxnSp>
          <p:nvCxnSpPr>
            <p:cNvPr id="240" name="Google Shape;240;p24"/>
            <p:cNvCxnSpPr>
              <a:stCxn id="238" idx="3"/>
              <a:endCxn id="234" idx="1"/>
            </p:cNvCxnSpPr>
            <p:nvPr/>
          </p:nvCxnSpPr>
          <p:spPr>
            <a:xfrm>
              <a:off x="4664696" y="3915212"/>
              <a:ext cx="270900" cy="29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1" name="Google Shape;241;p24"/>
            <p:cNvCxnSpPr>
              <a:stCxn id="239" idx="3"/>
              <a:endCxn id="238" idx="1"/>
            </p:cNvCxnSpPr>
            <p:nvPr/>
          </p:nvCxnSpPr>
          <p:spPr>
            <a:xfrm>
              <a:off x="3635590" y="3915212"/>
              <a:ext cx="196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2" name="Google Shape;242;p24"/>
            <p:cNvCxnSpPr>
              <a:stCxn id="231" idx="3"/>
              <a:endCxn id="243" idx="2"/>
            </p:cNvCxnSpPr>
            <p:nvPr/>
          </p:nvCxnSpPr>
          <p:spPr>
            <a:xfrm flipH="1" rot="10800000">
              <a:off x="1502575" y="4140204"/>
              <a:ext cx="604200" cy="383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4" name="Google Shape;244;p24"/>
            <p:cNvCxnSpPr>
              <a:endCxn id="231" idx="0"/>
            </p:cNvCxnSpPr>
            <p:nvPr/>
          </p:nvCxnSpPr>
          <p:spPr>
            <a:xfrm>
              <a:off x="1047325" y="3809304"/>
              <a:ext cx="14100" cy="51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5" name="Google Shape;245;p24"/>
            <p:cNvSpPr/>
            <p:nvPr/>
          </p:nvSpPr>
          <p:spPr>
            <a:xfrm>
              <a:off x="620275" y="3690362"/>
              <a:ext cx="882300" cy="449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Twitter-API     simulator</a:t>
              </a:r>
              <a:endParaRPr sz="1000"/>
            </a:p>
          </p:txBody>
        </p:sp>
        <p:sp>
          <p:nvSpPr>
            <p:cNvPr id="243" name="Google Shape;243;p24"/>
            <p:cNvSpPr/>
            <p:nvPr/>
          </p:nvSpPr>
          <p:spPr>
            <a:xfrm>
              <a:off x="1665528" y="3690362"/>
              <a:ext cx="882300" cy="449700"/>
            </a:xfrm>
            <a:prstGeom prst="rect">
              <a:avLst/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kafka2hdfs</a:t>
              </a:r>
              <a:endParaRPr sz="1000"/>
            </a:p>
          </p:txBody>
        </p:sp>
        <p:cxnSp>
          <p:nvCxnSpPr>
            <p:cNvPr id="246" name="Google Shape;246;p24"/>
            <p:cNvCxnSpPr>
              <a:stCxn id="243" idx="3"/>
              <a:endCxn id="239" idx="1"/>
            </p:cNvCxnSpPr>
            <p:nvPr/>
          </p:nvCxnSpPr>
          <p:spPr>
            <a:xfrm>
              <a:off x="2547828" y="3915212"/>
              <a:ext cx="255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HDFS + SPARK BATCH + HIVE</a:t>
            </a:r>
            <a:endParaRPr/>
          </a:p>
        </p:txBody>
      </p:sp>
      <p:sp>
        <p:nvSpPr>
          <p:cNvPr id="252" name="Google Shape;252;p2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read tweets from hdfs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compute statistics (aka features)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save as hive table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Dev team:  Sid, Ka Kit Law, Almaz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253" name="Google Shape;253;p25"/>
          <p:cNvGrpSpPr/>
          <p:nvPr/>
        </p:nvGrpSpPr>
        <p:grpSpPr>
          <a:xfrm>
            <a:off x="561750" y="3011612"/>
            <a:ext cx="5593929" cy="1037713"/>
            <a:chOff x="620275" y="3690362"/>
            <a:chExt cx="5593929" cy="1037713"/>
          </a:xfrm>
        </p:grpSpPr>
        <p:sp>
          <p:nvSpPr>
            <p:cNvPr id="254" name="Google Shape;254;p25"/>
            <p:cNvSpPr/>
            <p:nvPr/>
          </p:nvSpPr>
          <p:spPr>
            <a:xfrm>
              <a:off x="620275" y="4322304"/>
              <a:ext cx="882300" cy="402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KAFKA</a:t>
              </a:r>
              <a:endParaRPr sz="1000"/>
            </a:p>
          </p:txBody>
        </p:sp>
        <p:sp>
          <p:nvSpPr>
            <p:cNvPr id="255" name="Google Shape;255;p25"/>
            <p:cNvSpPr/>
            <p:nvPr/>
          </p:nvSpPr>
          <p:spPr>
            <a:xfrm>
              <a:off x="2805670" y="4322213"/>
              <a:ext cx="1859100" cy="402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STREAMING</a:t>
              </a:r>
              <a:endParaRPr sz="1000"/>
            </a:p>
          </p:txBody>
        </p:sp>
        <p:sp>
          <p:nvSpPr>
            <p:cNvPr id="256" name="Google Shape;256;p25"/>
            <p:cNvSpPr/>
            <p:nvPr/>
          </p:nvSpPr>
          <p:spPr>
            <a:xfrm>
              <a:off x="5731804" y="3694275"/>
              <a:ext cx="482400" cy="1033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latin typeface="Roboto"/>
                  <a:ea typeface="Roboto"/>
                  <a:cs typeface="Roboto"/>
                  <a:sym typeface="Roboto"/>
                </a:rPr>
                <a:t>  BI</a:t>
              </a:r>
              <a:endParaRPr sz="1000"/>
            </a:p>
          </p:txBody>
        </p:sp>
        <p:sp>
          <p:nvSpPr>
            <p:cNvPr id="257" name="Google Shape;257;p25"/>
            <p:cNvSpPr/>
            <p:nvPr/>
          </p:nvSpPr>
          <p:spPr>
            <a:xfrm>
              <a:off x="4935691" y="3690362"/>
              <a:ext cx="525000" cy="1033800"/>
            </a:xfrm>
            <a:prstGeom prst="rect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HIVE</a:t>
              </a:r>
              <a:endParaRPr sz="1000"/>
            </a:p>
          </p:txBody>
        </p:sp>
        <p:cxnSp>
          <p:nvCxnSpPr>
            <p:cNvPr id="258" name="Google Shape;258;p25"/>
            <p:cNvCxnSpPr>
              <a:stCxn id="254" idx="3"/>
              <a:endCxn id="255" idx="1"/>
            </p:cNvCxnSpPr>
            <p:nvPr/>
          </p:nvCxnSpPr>
          <p:spPr>
            <a:xfrm>
              <a:off x="1502575" y="4523304"/>
              <a:ext cx="1303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9" name="Google Shape;259;p25"/>
            <p:cNvCxnSpPr>
              <a:stCxn id="255" idx="3"/>
              <a:endCxn id="257" idx="1"/>
            </p:cNvCxnSpPr>
            <p:nvPr/>
          </p:nvCxnSpPr>
          <p:spPr>
            <a:xfrm flipH="1" rot="10800000">
              <a:off x="4664770" y="4207313"/>
              <a:ext cx="270900" cy="315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0" name="Google Shape;260;p25"/>
            <p:cNvCxnSpPr>
              <a:stCxn id="257" idx="3"/>
              <a:endCxn id="256" idx="1"/>
            </p:cNvCxnSpPr>
            <p:nvPr/>
          </p:nvCxnSpPr>
          <p:spPr>
            <a:xfrm>
              <a:off x="5460691" y="4207262"/>
              <a:ext cx="271200" cy="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61" name="Google Shape;261;p25"/>
            <p:cNvSpPr/>
            <p:nvPr/>
          </p:nvSpPr>
          <p:spPr>
            <a:xfrm>
              <a:off x="3831896" y="3690362"/>
              <a:ext cx="832800" cy="449700"/>
            </a:xfrm>
            <a:prstGeom prst="rect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BATCH</a:t>
              </a:r>
              <a:endParaRPr sz="1000"/>
            </a:p>
          </p:txBody>
        </p:sp>
        <p:sp>
          <p:nvSpPr>
            <p:cNvPr id="262" name="Google Shape;262;p25"/>
            <p:cNvSpPr/>
            <p:nvPr/>
          </p:nvSpPr>
          <p:spPr>
            <a:xfrm>
              <a:off x="2802790" y="3690362"/>
              <a:ext cx="832800" cy="449700"/>
            </a:xfrm>
            <a:prstGeom prst="rect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HDFS</a:t>
              </a:r>
              <a:endParaRPr sz="1000"/>
            </a:p>
          </p:txBody>
        </p:sp>
        <p:cxnSp>
          <p:nvCxnSpPr>
            <p:cNvPr id="263" name="Google Shape;263;p25"/>
            <p:cNvCxnSpPr>
              <a:stCxn id="261" idx="3"/>
              <a:endCxn id="257" idx="1"/>
            </p:cNvCxnSpPr>
            <p:nvPr/>
          </p:nvCxnSpPr>
          <p:spPr>
            <a:xfrm>
              <a:off x="4664696" y="3915212"/>
              <a:ext cx="270900" cy="29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4" name="Google Shape;264;p25"/>
            <p:cNvCxnSpPr>
              <a:stCxn id="262" idx="3"/>
              <a:endCxn id="261" idx="1"/>
            </p:cNvCxnSpPr>
            <p:nvPr/>
          </p:nvCxnSpPr>
          <p:spPr>
            <a:xfrm>
              <a:off x="3635590" y="3915212"/>
              <a:ext cx="196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5" name="Google Shape;265;p25"/>
            <p:cNvCxnSpPr>
              <a:stCxn id="254" idx="3"/>
              <a:endCxn id="266" idx="2"/>
            </p:cNvCxnSpPr>
            <p:nvPr/>
          </p:nvCxnSpPr>
          <p:spPr>
            <a:xfrm flipH="1" rot="10800000">
              <a:off x="1502575" y="4140204"/>
              <a:ext cx="604200" cy="383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7" name="Google Shape;267;p25"/>
            <p:cNvCxnSpPr>
              <a:endCxn id="254" idx="0"/>
            </p:cNvCxnSpPr>
            <p:nvPr/>
          </p:nvCxnSpPr>
          <p:spPr>
            <a:xfrm>
              <a:off x="1047325" y="3809304"/>
              <a:ext cx="14100" cy="51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68" name="Google Shape;268;p25"/>
            <p:cNvSpPr/>
            <p:nvPr/>
          </p:nvSpPr>
          <p:spPr>
            <a:xfrm>
              <a:off x="620275" y="3690362"/>
              <a:ext cx="882300" cy="449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Twitter-API     simulator</a:t>
              </a:r>
              <a:endParaRPr sz="1000"/>
            </a:p>
          </p:txBody>
        </p:sp>
        <p:sp>
          <p:nvSpPr>
            <p:cNvPr id="266" name="Google Shape;266;p25"/>
            <p:cNvSpPr/>
            <p:nvPr/>
          </p:nvSpPr>
          <p:spPr>
            <a:xfrm>
              <a:off x="1665528" y="3690362"/>
              <a:ext cx="882300" cy="449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kafka2hdfs</a:t>
              </a:r>
              <a:endParaRPr sz="1000"/>
            </a:p>
          </p:txBody>
        </p:sp>
        <p:cxnSp>
          <p:nvCxnSpPr>
            <p:cNvPr id="269" name="Google Shape;269;p25"/>
            <p:cNvCxnSpPr>
              <a:stCxn id="266" idx="3"/>
              <a:endCxn id="262" idx="1"/>
            </p:cNvCxnSpPr>
            <p:nvPr/>
          </p:nvCxnSpPr>
          <p:spPr>
            <a:xfrm>
              <a:off x="2547828" y="3915212"/>
              <a:ext cx="255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KAFKA + SPARK STREAMING + HIVE</a:t>
            </a:r>
            <a:endParaRPr/>
          </a:p>
        </p:txBody>
      </p:sp>
      <p:sp>
        <p:nvSpPr>
          <p:cNvPr id="275" name="Google Shape;275;p2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read tweets from kafka topic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compute statistics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save as hive table (separate table from batch)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Dev team:  Ka Kit Law, Almaz</a:t>
            </a:r>
            <a:endParaRPr/>
          </a:p>
        </p:txBody>
      </p:sp>
      <p:grpSp>
        <p:nvGrpSpPr>
          <p:cNvPr id="276" name="Google Shape;276;p26"/>
          <p:cNvGrpSpPr/>
          <p:nvPr/>
        </p:nvGrpSpPr>
        <p:grpSpPr>
          <a:xfrm>
            <a:off x="573475" y="3058387"/>
            <a:ext cx="5593929" cy="1037713"/>
            <a:chOff x="620275" y="3690362"/>
            <a:chExt cx="5593929" cy="1037713"/>
          </a:xfrm>
        </p:grpSpPr>
        <p:sp>
          <p:nvSpPr>
            <p:cNvPr id="277" name="Google Shape;277;p26"/>
            <p:cNvSpPr/>
            <p:nvPr/>
          </p:nvSpPr>
          <p:spPr>
            <a:xfrm>
              <a:off x="620275" y="4322304"/>
              <a:ext cx="882300" cy="402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KAFKA</a:t>
              </a:r>
              <a:endParaRPr sz="1000"/>
            </a:p>
          </p:txBody>
        </p:sp>
        <p:sp>
          <p:nvSpPr>
            <p:cNvPr id="278" name="Google Shape;278;p26"/>
            <p:cNvSpPr/>
            <p:nvPr/>
          </p:nvSpPr>
          <p:spPr>
            <a:xfrm>
              <a:off x="2805670" y="4322213"/>
              <a:ext cx="1859100" cy="402000"/>
            </a:xfrm>
            <a:prstGeom prst="rect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STREAMING</a:t>
              </a:r>
              <a:endParaRPr sz="1000"/>
            </a:p>
          </p:txBody>
        </p:sp>
        <p:sp>
          <p:nvSpPr>
            <p:cNvPr id="279" name="Google Shape;279;p26"/>
            <p:cNvSpPr/>
            <p:nvPr/>
          </p:nvSpPr>
          <p:spPr>
            <a:xfrm>
              <a:off x="5731804" y="3694275"/>
              <a:ext cx="482400" cy="1033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latin typeface="Roboto"/>
                  <a:ea typeface="Roboto"/>
                  <a:cs typeface="Roboto"/>
                  <a:sym typeface="Roboto"/>
                </a:rPr>
                <a:t>  BI</a:t>
              </a:r>
              <a:endParaRPr sz="1000"/>
            </a:p>
          </p:txBody>
        </p:sp>
        <p:sp>
          <p:nvSpPr>
            <p:cNvPr id="280" name="Google Shape;280;p26"/>
            <p:cNvSpPr/>
            <p:nvPr/>
          </p:nvSpPr>
          <p:spPr>
            <a:xfrm>
              <a:off x="4935691" y="3690362"/>
              <a:ext cx="525000" cy="1033800"/>
            </a:xfrm>
            <a:prstGeom prst="rect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HIVE</a:t>
              </a:r>
              <a:endParaRPr sz="1000"/>
            </a:p>
          </p:txBody>
        </p:sp>
        <p:cxnSp>
          <p:nvCxnSpPr>
            <p:cNvPr id="281" name="Google Shape;281;p26"/>
            <p:cNvCxnSpPr>
              <a:stCxn id="277" idx="3"/>
              <a:endCxn id="278" idx="1"/>
            </p:cNvCxnSpPr>
            <p:nvPr/>
          </p:nvCxnSpPr>
          <p:spPr>
            <a:xfrm>
              <a:off x="1502575" y="4523304"/>
              <a:ext cx="1303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2" name="Google Shape;282;p26"/>
            <p:cNvCxnSpPr>
              <a:stCxn id="278" idx="3"/>
              <a:endCxn id="280" idx="1"/>
            </p:cNvCxnSpPr>
            <p:nvPr/>
          </p:nvCxnSpPr>
          <p:spPr>
            <a:xfrm flipH="1" rot="10800000">
              <a:off x="4664770" y="4207313"/>
              <a:ext cx="270900" cy="315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3" name="Google Shape;283;p26"/>
            <p:cNvCxnSpPr>
              <a:stCxn id="280" idx="3"/>
              <a:endCxn id="279" idx="1"/>
            </p:cNvCxnSpPr>
            <p:nvPr/>
          </p:nvCxnSpPr>
          <p:spPr>
            <a:xfrm>
              <a:off x="5460691" y="4207262"/>
              <a:ext cx="271200" cy="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84" name="Google Shape;284;p26"/>
            <p:cNvSpPr/>
            <p:nvPr/>
          </p:nvSpPr>
          <p:spPr>
            <a:xfrm>
              <a:off x="3831896" y="3690362"/>
              <a:ext cx="832800" cy="449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BATCH</a:t>
              </a:r>
              <a:endParaRPr sz="1000"/>
            </a:p>
          </p:txBody>
        </p:sp>
        <p:sp>
          <p:nvSpPr>
            <p:cNvPr id="285" name="Google Shape;285;p26"/>
            <p:cNvSpPr/>
            <p:nvPr/>
          </p:nvSpPr>
          <p:spPr>
            <a:xfrm>
              <a:off x="2802790" y="3690362"/>
              <a:ext cx="832800" cy="449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HDFS</a:t>
              </a:r>
              <a:endParaRPr sz="1000"/>
            </a:p>
          </p:txBody>
        </p:sp>
        <p:cxnSp>
          <p:nvCxnSpPr>
            <p:cNvPr id="286" name="Google Shape;286;p26"/>
            <p:cNvCxnSpPr>
              <a:stCxn id="284" idx="3"/>
              <a:endCxn id="280" idx="1"/>
            </p:cNvCxnSpPr>
            <p:nvPr/>
          </p:nvCxnSpPr>
          <p:spPr>
            <a:xfrm>
              <a:off x="4664696" y="3915212"/>
              <a:ext cx="270900" cy="29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7" name="Google Shape;287;p26"/>
            <p:cNvCxnSpPr>
              <a:stCxn id="285" idx="3"/>
              <a:endCxn id="284" idx="1"/>
            </p:cNvCxnSpPr>
            <p:nvPr/>
          </p:nvCxnSpPr>
          <p:spPr>
            <a:xfrm>
              <a:off x="3635590" y="3915212"/>
              <a:ext cx="196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8" name="Google Shape;288;p26"/>
            <p:cNvCxnSpPr>
              <a:stCxn id="277" idx="3"/>
              <a:endCxn id="289" idx="2"/>
            </p:cNvCxnSpPr>
            <p:nvPr/>
          </p:nvCxnSpPr>
          <p:spPr>
            <a:xfrm flipH="1" rot="10800000">
              <a:off x="1502575" y="4140204"/>
              <a:ext cx="604200" cy="383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0" name="Google Shape;290;p26"/>
            <p:cNvCxnSpPr>
              <a:endCxn id="277" idx="0"/>
            </p:cNvCxnSpPr>
            <p:nvPr/>
          </p:nvCxnSpPr>
          <p:spPr>
            <a:xfrm>
              <a:off x="1047325" y="3809304"/>
              <a:ext cx="14100" cy="51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91" name="Google Shape;291;p26"/>
            <p:cNvSpPr/>
            <p:nvPr/>
          </p:nvSpPr>
          <p:spPr>
            <a:xfrm>
              <a:off x="620275" y="3690362"/>
              <a:ext cx="882300" cy="449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Twitter-API     simulator</a:t>
              </a:r>
              <a:endParaRPr sz="1000"/>
            </a:p>
          </p:txBody>
        </p:sp>
        <p:sp>
          <p:nvSpPr>
            <p:cNvPr id="289" name="Google Shape;289;p26"/>
            <p:cNvSpPr/>
            <p:nvPr/>
          </p:nvSpPr>
          <p:spPr>
            <a:xfrm>
              <a:off x="1665528" y="3690362"/>
              <a:ext cx="882300" cy="449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kafka2hdfs</a:t>
              </a:r>
              <a:endParaRPr sz="1000"/>
            </a:p>
          </p:txBody>
        </p:sp>
        <p:cxnSp>
          <p:nvCxnSpPr>
            <p:cNvPr id="292" name="Google Shape;292;p26"/>
            <p:cNvCxnSpPr>
              <a:stCxn id="289" idx="3"/>
              <a:endCxn id="285" idx="1"/>
            </p:cNvCxnSpPr>
            <p:nvPr/>
          </p:nvCxnSpPr>
          <p:spPr>
            <a:xfrm>
              <a:off x="2547828" y="3915212"/>
              <a:ext cx="255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HIVE (SERVING LAYER)</a:t>
            </a:r>
            <a:endParaRPr/>
          </a:p>
        </p:txBody>
      </p:sp>
      <p:sp>
        <p:nvSpPr>
          <p:cNvPr id="298" name="Google Shape;298;p2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union/join/group -  batch and streaming tables into one table (via sql-view)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hive sql 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Dev team: Li Zhonghua, Almaz</a:t>
            </a:r>
            <a:endParaRPr/>
          </a:p>
        </p:txBody>
      </p:sp>
      <p:grpSp>
        <p:nvGrpSpPr>
          <p:cNvPr id="299" name="Google Shape;299;p27"/>
          <p:cNvGrpSpPr/>
          <p:nvPr/>
        </p:nvGrpSpPr>
        <p:grpSpPr>
          <a:xfrm>
            <a:off x="614425" y="2789237"/>
            <a:ext cx="5593929" cy="1037713"/>
            <a:chOff x="620275" y="3690362"/>
            <a:chExt cx="5593929" cy="1037713"/>
          </a:xfrm>
        </p:grpSpPr>
        <p:sp>
          <p:nvSpPr>
            <p:cNvPr id="300" name="Google Shape;300;p27"/>
            <p:cNvSpPr/>
            <p:nvPr/>
          </p:nvSpPr>
          <p:spPr>
            <a:xfrm>
              <a:off x="620275" y="4322304"/>
              <a:ext cx="882300" cy="402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KAFKA</a:t>
              </a:r>
              <a:endParaRPr sz="1000"/>
            </a:p>
          </p:txBody>
        </p:sp>
        <p:sp>
          <p:nvSpPr>
            <p:cNvPr id="301" name="Google Shape;301;p27"/>
            <p:cNvSpPr/>
            <p:nvPr/>
          </p:nvSpPr>
          <p:spPr>
            <a:xfrm>
              <a:off x="2805670" y="4322213"/>
              <a:ext cx="1859100" cy="402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STREAMING</a:t>
              </a:r>
              <a:endParaRPr sz="1000"/>
            </a:p>
          </p:txBody>
        </p:sp>
        <p:sp>
          <p:nvSpPr>
            <p:cNvPr id="302" name="Google Shape;302;p27"/>
            <p:cNvSpPr/>
            <p:nvPr/>
          </p:nvSpPr>
          <p:spPr>
            <a:xfrm>
              <a:off x="5731804" y="3694275"/>
              <a:ext cx="482400" cy="1033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latin typeface="Roboto"/>
                  <a:ea typeface="Roboto"/>
                  <a:cs typeface="Roboto"/>
                  <a:sym typeface="Roboto"/>
                </a:rPr>
                <a:t>  BI</a:t>
              </a:r>
              <a:endParaRPr sz="1000"/>
            </a:p>
          </p:txBody>
        </p:sp>
        <p:sp>
          <p:nvSpPr>
            <p:cNvPr id="303" name="Google Shape;303;p27"/>
            <p:cNvSpPr/>
            <p:nvPr/>
          </p:nvSpPr>
          <p:spPr>
            <a:xfrm>
              <a:off x="4935691" y="3690362"/>
              <a:ext cx="525000" cy="1033800"/>
            </a:xfrm>
            <a:prstGeom prst="rect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HIVE</a:t>
              </a:r>
              <a:endParaRPr sz="1000"/>
            </a:p>
          </p:txBody>
        </p:sp>
        <p:cxnSp>
          <p:nvCxnSpPr>
            <p:cNvPr id="304" name="Google Shape;304;p27"/>
            <p:cNvCxnSpPr>
              <a:stCxn id="300" idx="3"/>
              <a:endCxn id="301" idx="1"/>
            </p:cNvCxnSpPr>
            <p:nvPr/>
          </p:nvCxnSpPr>
          <p:spPr>
            <a:xfrm>
              <a:off x="1502575" y="4523304"/>
              <a:ext cx="1303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05" name="Google Shape;305;p27"/>
            <p:cNvCxnSpPr>
              <a:stCxn id="301" idx="3"/>
              <a:endCxn id="303" idx="1"/>
            </p:cNvCxnSpPr>
            <p:nvPr/>
          </p:nvCxnSpPr>
          <p:spPr>
            <a:xfrm flipH="1" rot="10800000">
              <a:off x="4664770" y="4207313"/>
              <a:ext cx="270900" cy="315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06" name="Google Shape;306;p27"/>
            <p:cNvCxnSpPr>
              <a:stCxn id="303" idx="3"/>
              <a:endCxn id="302" idx="1"/>
            </p:cNvCxnSpPr>
            <p:nvPr/>
          </p:nvCxnSpPr>
          <p:spPr>
            <a:xfrm>
              <a:off x="5460691" y="4207262"/>
              <a:ext cx="271200" cy="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07" name="Google Shape;307;p27"/>
            <p:cNvSpPr/>
            <p:nvPr/>
          </p:nvSpPr>
          <p:spPr>
            <a:xfrm>
              <a:off x="3831896" y="3690362"/>
              <a:ext cx="832800" cy="449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BATCH</a:t>
              </a:r>
              <a:endParaRPr sz="1000"/>
            </a:p>
          </p:txBody>
        </p:sp>
        <p:sp>
          <p:nvSpPr>
            <p:cNvPr id="308" name="Google Shape;308;p27"/>
            <p:cNvSpPr/>
            <p:nvPr/>
          </p:nvSpPr>
          <p:spPr>
            <a:xfrm>
              <a:off x="2802790" y="3690362"/>
              <a:ext cx="832800" cy="449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HDFS</a:t>
              </a:r>
              <a:endParaRPr sz="1000"/>
            </a:p>
          </p:txBody>
        </p:sp>
        <p:cxnSp>
          <p:nvCxnSpPr>
            <p:cNvPr id="309" name="Google Shape;309;p27"/>
            <p:cNvCxnSpPr>
              <a:stCxn id="307" idx="3"/>
              <a:endCxn id="303" idx="1"/>
            </p:cNvCxnSpPr>
            <p:nvPr/>
          </p:nvCxnSpPr>
          <p:spPr>
            <a:xfrm>
              <a:off x="4664696" y="3915212"/>
              <a:ext cx="270900" cy="29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10" name="Google Shape;310;p27"/>
            <p:cNvCxnSpPr>
              <a:stCxn id="308" idx="3"/>
              <a:endCxn id="307" idx="1"/>
            </p:cNvCxnSpPr>
            <p:nvPr/>
          </p:nvCxnSpPr>
          <p:spPr>
            <a:xfrm>
              <a:off x="3635590" y="3915212"/>
              <a:ext cx="196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11" name="Google Shape;311;p27"/>
            <p:cNvCxnSpPr>
              <a:stCxn id="300" idx="3"/>
              <a:endCxn id="312" idx="2"/>
            </p:cNvCxnSpPr>
            <p:nvPr/>
          </p:nvCxnSpPr>
          <p:spPr>
            <a:xfrm flipH="1" rot="10800000">
              <a:off x="1502575" y="4140204"/>
              <a:ext cx="604200" cy="383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13" name="Google Shape;313;p27"/>
            <p:cNvCxnSpPr>
              <a:endCxn id="300" idx="0"/>
            </p:cNvCxnSpPr>
            <p:nvPr/>
          </p:nvCxnSpPr>
          <p:spPr>
            <a:xfrm>
              <a:off x="1047325" y="3809304"/>
              <a:ext cx="14100" cy="51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14" name="Google Shape;314;p27"/>
            <p:cNvSpPr/>
            <p:nvPr/>
          </p:nvSpPr>
          <p:spPr>
            <a:xfrm>
              <a:off x="620275" y="3690362"/>
              <a:ext cx="882300" cy="449700"/>
            </a:xfrm>
            <a:prstGeom prst="rect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Twitter-API     simulator</a:t>
              </a:r>
              <a:endParaRPr sz="1000"/>
            </a:p>
          </p:txBody>
        </p:sp>
        <p:sp>
          <p:nvSpPr>
            <p:cNvPr id="312" name="Google Shape;312;p27"/>
            <p:cNvSpPr/>
            <p:nvPr/>
          </p:nvSpPr>
          <p:spPr>
            <a:xfrm>
              <a:off x="1665528" y="3690362"/>
              <a:ext cx="882300" cy="449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kafka2hdfs</a:t>
              </a:r>
              <a:endParaRPr sz="1000"/>
            </a:p>
          </p:txBody>
        </p:sp>
        <p:cxnSp>
          <p:nvCxnSpPr>
            <p:cNvPr id="315" name="Google Shape;315;p27"/>
            <p:cNvCxnSpPr>
              <a:stCxn id="312" idx="3"/>
              <a:endCxn id="308" idx="1"/>
            </p:cNvCxnSpPr>
            <p:nvPr/>
          </p:nvCxnSpPr>
          <p:spPr>
            <a:xfrm>
              <a:off x="2547828" y="3915212"/>
              <a:ext cx="255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BUSINESS INTELLIGENCE</a:t>
            </a:r>
            <a:endParaRPr/>
          </a:p>
        </p:txBody>
      </p:sp>
      <p:sp>
        <p:nvSpPr>
          <p:cNvPr id="321" name="Google Shape;321;p28"/>
          <p:cNvSpPr txBox="1"/>
          <p:nvPr>
            <p:ph idx="1" type="body"/>
          </p:nvPr>
        </p:nvSpPr>
        <p:spPr>
          <a:xfrm>
            <a:off x="426350" y="1293550"/>
            <a:ext cx="2382300" cy="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Tableau public: URL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8600" y="1017800"/>
            <a:ext cx="4644677" cy="2676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3" name="Google Shape;323;p28"/>
          <p:cNvGrpSpPr/>
          <p:nvPr/>
        </p:nvGrpSpPr>
        <p:grpSpPr>
          <a:xfrm>
            <a:off x="573450" y="3427037"/>
            <a:ext cx="5593929" cy="1037713"/>
            <a:chOff x="620275" y="3690362"/>
            <a:chExt cx="5593929" cy="1037713"/>
          </a:xfrm>
        </p:grpSpPr>
        <p:sp>
          <p:nvSpPr>
            <p:cNvPr id="324" name="Google Shape;324;p28"/>
            <p:cNvSpPr/>
            <p:nvPr/>
          </p:nvSpPr>
          <p:spPr>
            <a:xfrm>
              <a:off x="620275" y="4322304"/>
              <a:ext cx="882300" cy="402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KAFKA</a:t>
              </a:r>
              <a:endParaRPr sz="1000"/>
            </a:p>
          </p:txBody>
        </p:sp>
        <p:sp>
          <p:nvSpPr>
            <p:cNvPr id="325" name="Google Shape;325;p28"/>
            <p:cNvSpPr/>
            <p:nvPr/>
          </p:nvSpPr>
          <p:spPr>
            <a:xfrm>
              <a:off x="2805670" y="4322213"/>
              <a:ext cx="1859100" cy="402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STREAMING</a:t>
              </a:r>
              <a:endParaRPr sz="1000"/>
            </a:p>
          </p:txBody>
        </p:sp>
        <p:sp>
          <p:nvSpPr>
            <p:cNvPr id="326" name="Google Shape;326;p28"/>
            <p:cNvSpPr/>
            <p:nvPr/>
          </p:nvSpPr>
          <p:spPr>
            <a:xfrm>
              <a:off x="5731804" y="3694275"/>
              <a:ext cx="482400" cy="1033800"/>
            </a:xfrm>
            <a:prstGeom prst="rect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>
                  <a:latin typeface="Roboto"/>
                  <a:ea typeface="Roboto"/>
                  <a:cs typeface="Roboto"/>
                  <a:sym typeface="Roboto"/>
                </a:rPr>
                <a:t>  BI</a:t>
              </a:r>
              <a:endParaRPr sz="1000"/>
            </a:p>
          </p:txBody>
        </p:sp>
        <p:sp>
          <p:nvSpPr>
            <p:cNvPr id="327" name="Google Shape;327;p28"/>
            <p:cNvSpPr/>
            <p:nvPr/>
          </p:nvSpPr>
          <p:spPr>
            <a:xfrm>
              <a:off x="4935691" y="3690362"/>
              <a:ext cx="525000" cy="1033800"/>
            </a:xfrm>
            <a:prstGeom prst="rect">
              <a:avLst/>
            </a:prstGeom>
            <a:solidFill>
              <a:srgbClr val="6AA84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HIVE</a:t>
              </a:r>
              <a:endParaRPr sz="1000"/>
            </a:p>
          </p:txBody>
        </p:sp>
        <p:cxnSp>
          <p:nvCxnSpPr>
            <p:cNvPr id="328" name="Google Shape;328;p28"/>
            <p:cNvCxnSpPr>
              <a:stCxn id="324" idx="3"/>
              <a:endCxn id="325" idx="1"/>
            </p:cNvCxnSpPr>
            <p:nvPr/>
          </p:nvCxnSpPr>
          <p:spPr>
            <a:xfrm>
              <a:off x="1502575" y="4523304"/>
              <a:ext cx="1303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29" name="Google Shape;329;p28"/>
            <p:cNvCxnSpPr>
              <a:stCxn id="325" idx="3"/>
              <a:endCxn id="327" idx="1"/>
            </p:cNvCxnSpPr>
            <p:nvPr/>
          </p:nvCxnSpPr>
          <p:spPr>
            <a:xfrm flipH="1" rot="10800000">
              <a:off x="4664770" y="4207313"/>
              <a:ext cx="270900" cy="315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30" name="Google Shape;330;p28"/>
            <p:cNvCxnSpPr>
              <a:stCxn id="327" idx="3"/>
              <a:endCxn id="326" idx="1"/>
            </p:cNvCxnSpPr>
            <p:nvPr/>
          </p:nvCxnSpPr>
          <p:spPr>
            <a:xfrm>
              <a:off x="5460691" y="4207262"/>
              <a:ext cx="271200" cy="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31" name="Google Shape;331;p28"/>
            <p:cNvSpPr/>
            <p:nvPr/>
          </p:nvSpPr>
          <p:spPr>
            <a:xfrm>
              <a:off x="3831896" y="3690362"/>
              <a:ext cx="832800" cy="449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BATCH</a:t>
              </a:r>
              <a:endParaRPr sz="1000"/>
            </a:p>
          </p:txBody>
        </p:sp>
        <p:sp>
          <p:nvSpPr>
            <p:cNvPr id="332" name="Google Shape;332;p28"/>
            <p:cNvSpPr/>
            <p:nvPr/>
          </p:nvSpPr>
          <p:spPr>
            <a:xfrm>
              <a:off x="2802790" y="3690362"/>
              <a:ext cx="832800" cy="449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HDFS</a:t>
              </a:r>
              <a:endParaRPr sz="1000"/>
            </a:p>
          </p:txBody>
        </p:sp>
        <p:cxnSp>
          <p:nvCxnSpPr>
            <p:cNvPr id="333" name="Google Shape;333;p28"/>
            <p:cNvCxnSpPr>
              <a:stCxn id="331" idx="3"/>
              <a:endCxn id="327" idx="1"/>
            </p:cNvCxnSpPr>
            <p:nvPr/>
          </p:nvCxnSpPr>
          <p:spPr>
            <a:xfrm>
              <a:off x="4664696" y="3915212"/>
              <a:ext cx="270900" cy="29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34" name="Google Shape;334;p28"/>
            <p:cNvCxnSpPr>
              <a:stCxn id="332" idx="3"/>
              <a:endCxn id="331" idx="1"/>
            </p:cNvCxnSpPr>
            <p:nvPr/>
          </p:nvCxnSpPr>
          <p:spPr>
            <a:xfrm>
              <a:off x="3635590" y="3915212"/>
              <a:ext cx="196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35" name="Google Shape;335;p28"/>
            <p:cNvCxnSpPr>
              <a:stCxn id="324" idx="3"/>
              <a:endCxn id="336" idx="2"/>
            </p:cNvCxnSpPr>
            <p:nvPr/>
          </p:nvCxnSpPr>
          <p:spPr>
            <a:xfrm flipH="1" rot="10800000">
              <a:off x="1502575" y="4140204"/>
              <a:ext cx="604200" cy="383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37" name="Google Shape;337;p28"/>
            <p:cNvCxnSpPr>
              <a:endCxn id="324" idx="0"/>
            </p:cNvCxnSpPr>
            <p:nvPr/>
          </p:nvCxnSpPr>
          <p:spPr>
            <a:xfrm>
              <a:off x="1047325" y="3809304"/>
              <a:ext cx="14100" cy="51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38" name="Google Shape;338;p28"/>
            <p:cNvSpPr/>
            <p:nvPr/>
          </p:nvSpPr>
          <p:spPr>
            <a:xfrm>
              <a:off x="620275" y="3690362"/>
              <a:ext cx="882300" cy="449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Twitter-API     simulator</a:t>
              </a:r>
              <a:endParaRPr sz="1000"/>
            </a:p>
          </p:txBody>
        </p:sp>
        <p:sp>
          <p:nvSpPr>
            <p:cNvPr id="336" name="Google Shape;336;p28"/>
            <p:cNvSpPr/>
            <p:nvPr/>
          </p:nvSpPr>
          <p:spPr>
            <a:xfrm>
              <a:off x="1665528" y="3690362"/>
              <a:ext cx="882300" cy="449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000"/>
                <a:t>kafka2hdfs</a:t>
              </a:r>
              <a:endParaRPr sz="1000"/>
            </a:p>
          </p:txBody>
        </p:sp>
        <p:cxnSp>
          <p:nvCxnSpPr>
            <p:cNvPr id="339" name="Google Shape;339;p28"/>
            <p:cNvCxnSpPr>
              <a:stCxn id="336" idx="3"/>
              <a:endCxn id="332" idx="1"/>
            </p:cNvCxnSpPr>
            <p:nvPr/>
          </p:nvCxnSpPr>
          <p:spPr>
            <a:xfrm>
              <a:off x="2547828" y="3915212"/>
              <a:ext cx="255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9"/>
          <p:cNvSpPr txBox="1"/>
          <p:nvPr>
            <p:ph type="ctrTitle"/>
          </p:nvPr>
        </p:nvSpPr>
        <p:spPr>
          <a:xfrm>
            <a:off x="598100" y="1775226"/>
            <a:ext cx="8222100" cy="129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LIVE DEMO: STAGE 2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RESOURCES</a:t>
            </a:r>
            <a:endParaRPr/>
          </a:p>
        </p:txBody>
      </p:sp>
      <p:sp>
        <p:nvSpPr>
          <p:cNvPr id="350" name="Google Shape;350;p3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-"/>
            </a:pPr>
            <a:r>
              <a:rPr lang="ru" sz="1200">
                <a:latin typeface="Arial"/>
                <a:ea typeface="Arial"/>
                <a:cs typeface="Arial"/>
                <a:sym typeface="Arial"/>
              </a:rPr>
              <a:t>GitHub: </a:t>
            </a:r>
            <a:r>
              <a:rPr lang="ru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https://github.com/rs-hse/research-seminar-project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-"/>
            </a:pPr>
            <a:r>
              <a:rPr lang="ru" sz="1200">
                <a:latin typeface="Arial"/>
                <a:ea typeface="Arial"/>
                <a:cs typeface="Arial"/>
                <a:sym typeface="Arial"/>
              </a:rPr>
              <a:t>Tableau Server: </a:t>
            </a:r>
            <a:r>
              <a:rPr lang="ru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https://public.tableau.com/profile/dasha1540#!/vizhome/Tweets_15861851167550/Analysisoftweetsinthebegginingof2018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-"/>
            </a:pPr>
            <a:r>
              <a:rPr lang="ru" sz="1200">
                <a:latin typeface="Arial"/>
                <a:ea typeface="Arial"/>
                <a:cs typeface="Arial"/>
                <a:sym typeface="Arial"/>
              </a:rPr>
              <a:t>Lambda Architecture: </a:t>
            </a:r>
            <a:r>
              <a:rPr lang="ru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https://en.wikipedia.org/wiki/Lambda_architecture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-"/>
            </a:pPr>
            <a:r>
              <a:rPr lang="ru" sz="1200">
                <a:latin typeface="Arial"/>
                <a:ea typeface="Arial"/>
                <a:cs typeface="Arial"/>
                <a:sym typeface="Arial"/>
              </a:rPr>
              <a:t>Hortonworks Data Platform (HDP®): </a:t>
            </a:r>
            <a:r>
              <a:rPr lang="ru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https://www.cloudera.com/downloads/hdp.html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-"/>
            </a:pPr>
            <a:r>
              <a:rPr lang="ru" sz="1200">
                <a:latin typeface="Arial"/>
                <a:ea typeface="Arial"/>
                <a:cs typeface="Arial"/>
                <a:sym typeface="Arial"/>
              </a:rPr>
              <a:t>Sandbox Deployment and Install Guide: </a:t>
            </a:r>
            <a:r>
              <a:rPr lang="ru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https://www.cloudera.com/tutorials/sandbox-deployment-and-install-guide/3.html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1"/>
          <p:cNvSpPr txBox="1"/>
          <p:nvPr>
            <p:ph type="title"/>
          </p:nvPr>
        </p:nvSpPr>
        <p:spPr>
          <a:xfrm>
            <a:off x="311700" y="1256050"/>
            <a:ext cx="8520600" cy="237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QA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