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ckinsey.com/industries/healthcare-systems-and-services/our-insights/the-big-data-revolution-in-us-health-care" TargetMode="External"/><Relationship Id="rId3" Type="http://schemas.openxmlformats.org/officeDocument/2006/relationships/hyperlink" Target="https://www.mckinsey.com/industries/healthcare-systems-and-services/our-insights/the-big-data-revolution-in-us-health-car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75db6678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75db6678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to emphasise the problem</a:t>
            </a:r>
            <a:endParaRPr/>
          </a:p>
          <a:p>
            <a:pPr indent="0" lvl="0" marL="0" rtl="0" algn="l">
              <a:spcBef>
                <a:spcPts val="0"/>
              </a:spcBef>
              <a:spcAft>
                <a:spcPts val="0"/>
              </a:spcAft>
              <a:buNone/>
            </a:pPr>
            <a:r>
              <a:rPr lang="ru"/>
              <a:t>это только официальная статистика, сколько еще в деревнях и маленьких городах, и просто тех, кто не пришел к врачу</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79285ea2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9285ea2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ru"/>
              <a:t>карта будет доступна любому врачу, который лечит пациента. </a:t>
            </a:r>
            <a:r>
              <a:rPr lang="ru" sz="1200">
                <a:solidFill>
                  <a:schemeClr val="dk1"/>
                </a:solidFill>
              </a:rPr>
              <a:t>Electronic Health Record (EHR) в США - система, хранящая все возможные записи о состоянии больного, по всем направлениям медицины, в течение всей жизни пациента. К нему подключены почти 94% клиник. По данным</a:t>
            </a:r>
            <a:r>
              <a:rPr lang="ru" sz="1200">
                <a:solidFill>
                  <a:schemeClr val="dk1"/>
                </a:solidFill>
                <a:uFill>
                  <a:noFill/>
                </a:uFill>
                <a:hlinkClick r:id="rId2"/>
              </a:rPr>
              <a:t> </a:t>
            </a:r>
            <a:r>
              <a:rPr lang="ru" sz="1200">
                <a:solidFill>
                  <a:srgbClr val="0077FF"/>
                </a:solidFill>
                <a:uFill>
                  <a:noFill/>
                </a:uFill>
                <a:hlinkClick r:id="rId3"/>
              </a:rPr>
              <a:t>McKinsey</a:t>
            </a:r>
            <a:r>
              <a:rPr lang="ru" sz="1200">
                <a:solidFill>
                  <a:schemeClr val="dk1"/>
                </a:solidFill>
              </a:rPr>
              <a:t> это помогло улучшить результаты лечения сердечно-сосудистых заболеваний и принесло около 1 миллиарда долларов экономии сократив количество посещений врачей и лабораторных обследований. Европе к 2020 году тоже должна заработать централизованная европейская система медицинских записей.</a:t>
            </a:r>
            <a:endParaRPr sz="1200">
              <a:solidFill>
                <a:schemeClr val="dk1"/>
              </a:solidFill>
            </a:endParaRPr>
          </a:p>
          <a:p>
            <a:pPr indent="0" lvl="0" marL="457200" rtl="0" algn="l">
              <a:spcBef>
                <a:spcPts val="0"/>
              </a:spcBef>
              <a:spcAft>
                <a:spcPts val="0"/>
              </a:spcAft>
              <a:buNone/>
            </a:pPr>
            <a:r>
              <a:rPr lang="ru">
                <a:solidFill>
                  <a:srgbClr val="333333"/>
                </a:solidFill>
                <a:latin typeface="Times New Roman"/>
                <a:ea typeface="Times New Roman"/>
                <a:cs typeface="Times New Roman"/>
                <a:sym typeface="Times New Roman"/>
              </a:rPr>
              <a:t>Врач должен принимать решения, «переварив» вводную информацию, но зачастую ее так много, что пациент отсекает эпизоды, которые могут иметь решающее значение. </a:t>
            </a:r>
            <a:endParaRPr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lang="ru" sz="1200">
                <a:solidFill>
                  <a:srgbClr val="111111"/>
                </a:solidFill>
                <a:latin typeface="Times New Roman"/>
                <a:ea typeface="Times New Roman"/>
                <a:cs typeface="Times New Roman"/>
                <a:sym typeface="Times New Roman"/>
              </a:rPr>
              <a:t>БД помогли установить, что аномальное количество хромосом способствует росту опухоли. Идея, что это не просто странная особенность опухолей, а двигатель их роста, основана на компьютерном анализе большого объема данных, собранных об опухолях. Это показывает, как способность компьютеров фильтровать все быстрее появляющуюся информацию может помочь нам углубить понимание онкологического процесса и распахнуть двери для новых открытий.</a:t>
            </a:r>
            <a:endParaRPr sz="1200">
              <a:solidFill>
                <a:srgbClr val="11111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11111"/>
              </a:buClr>
              <a:buSzPts val="1200"/>
              <a:buFont typeface="Times New Roman"/>
              <a:buAutoNum type="arabicPeriod"/>
            </a:pPr>
            <a:r>
              <a:rPr lang="ru">
                <a:solidFill>
                  <a:srgbClr val="222222"/>
                </a:solidFill>
                <a:latin typeface="Roboto"/>
                <a:ea typeface="Roboto"/>
                <a:cs typeface="Roboto"/>
                <a:sym typeface="Roboto"/>
              </a:rPr>
              <a:t>Из нескольких баз данных аналитические системы могут отбирать пациентов, которые наиболее полно отвечают предварительным требованиям испытания препарата.Благодаря достижениям телемедицины — гаджетам и носимым устройствам — исследователи смогут осуществлять мониторинг добровольцев в режиме реального времени. </a:t>
            </a:r>
            <a:r>
              <a:rPr lang="ru" sz="1250">
                <a:solidFill>
                  <a:srgbClr val="222222"/>
                </a:solidFill>
                <a:latin typeface="Roboto"/>
                <a:ea typeface="Roboto"/>
                <a:cs typeface="Roboto"/>
                <a:sym typeface="Roboto"/>
              </a:rPr>
              <a:t>Выявление побочных эффектов от лекарств. Большие данные также применяются в прогнозировании побочных эффектов для конкретных соединений и компонентов еще до начала клинических испытаний. Ведь, когда начнутся испытания на людях, может быть слишком поздно. Используя аналитический метод, который включает проверку десятков различных характеристик лекарственных препаратов, компании могут сэкономить время, деньги и сохранить жизни пациентов.</a:t>
            </a:r>
            <a:endParaRPr>
              <a:solidFill>
                <a:srgbClr val="222222"/>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AutoNum type="arabicPeriod"/>
            </a:pPr>
            <a:r>
              <a:rPr lang="ru" sz="1200">
                <a:solidFill>
                  <a:srgbClr val="222222"/>
                </a:solidFill>
                <a:latin typeface="Times New Roman"/>
                <a:ea typeface="Times New Roman"/>
                <a:cs typeface="Times New Roman"/>
                <a:sym typeface="Times New Roman"/>
              </a:rPr>
              <a:t>Ученые, проанализировав наиболее распространенные виды онкологических заболеваний, пришли к выводу, что каждый из этих видов рака характеризуется отчетливо выраженной комбинацией генов. </a:t>
            </a:r>
            <a:endParaRPr sz="1200">
              <a:solidFill>
                <a:srgbClr val="222222"/>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AutoNum type="arabicPeriod"/>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g75db6678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5db6678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https://newtonew.com/tech/big-data-vs-cancer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79285ea27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79285ea27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One of the opportunities to improve the quality and speed of diagnosis is the use of AI and in particular, computer vision. </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This technology is becoming more widespread: CV helps to process the obtained medical images, telling specialists in which areas can be pathologies, warn about the smallest violations missed by the naked eye, and in some cases even to exclude human error. At the moment, the most actively researched and applied: CNN, LSTM, multi-modal learning and weak-supervised learning. </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1.CNNs are capable of extracting informative, translation invariant features from image data or volumetric data, and have shown usefulness for many medical imaging purposes and imaging modalities. Two well-known and effective network architectures of this type are U-Net and SegNet</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2.LSTM is a recurrent neural network architecture that was originally designed to deal with the problem of vanishing gradients during the training of recurrent networks on long temporal sequences using gradient descent methods. It is commonly used in natural language processing. However, recent works show that LSTMs also prove useful for medical imaging tasks when combined with features learned by convolutional neural networks</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3.Weak Supervision can help with the lack of annotated medical data.</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4.Multimodal learning allows using different types of data about the same patient to make more precise conclusions.</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Computer vision consultants are currently developing solutions for a wide range of medical needs.</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The technology can work with different types of medical imaging - Computed tomography , Magnetic resonance imaging, ultrasound and x-ray.</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t/>
            </a:r>
            <a:endParaRPr b="1" sz="1800">
              <a:solidFill>
                <a:srgbClr val="333333"/>
              </a:solidFill>
              <a:highlight>
                <a:srgbClr val="FFFFFF"/>
              </a:highlight>
            </a:endParaRPr>
          </a:p>
          <a:p>
            <a:pPr indent="0" lvl="0" marL="0" rtl="0" algn="l">
              <a:spcBef>
                <a:spcPts val="0"/>
              </a:spcBef>
              <a:spcAft>
                <a:spcPts val="0"/>
              </a:spcAft>
              <a:buClr>
                <a:schemeClr val="dk1"/>
              </a:buClr>
              <a:buSzPts val="1100"/>
              <a:buFont typeface="Arial"/>
              <a:buNone/>
            </a:pPr>
            <a:r>
              <a:rPr b="1" lang="ru" sz="1800">
                <a:solidFill>
                  <a:srgbClr val="333333"/>
                </a:solidFill>
                <a:highlight>
                  <a:srgbClr val="FFFFFF"/>
                </a:highlight>
              </a:rPr>
              <a:t>Thus, computer vision in medicine is a very promising technology, but because of the inability to see the whole picture and context of the disease, as well as the lack of opportunities to explain on the basis of what the model has made a decision, this technology can not yet be used separately and automatically, but is a useful tool for doctors.</a:t>
            </a:r>
            <a:endParaRPr b="1" sz="1800">
              <a:solidFill>
                <a:srgbClr val="333333"/>
              </a:solidFill>
              <a:highlight>
                <a:srgbClr val="FFFFFF"/>
              </a:highlight>
            </a:endParaRPr>
          </a:p>
          <a:p>
            <a:pPr indent="0" lvl="0" marL="0" rtl="0" algn="l">
              <a:spcBef>
                <a:spcPts val="0"/>
              </a:spcBef>
              <a:spcAft>
                <a:spcPts val="0"/>
              </a:spcAft>
              <a:buNone/>
            </a:pPr>
            <a:r>
              <a:t/>
            </a:r>
            <a:endParaRPr b="1" sz="1800">
              <a:solidFill>
                <a:srgbClr val="333333"/>
              </a:solidFill>
              <a:highlight>
                <a:srgbClr val="FFFFFF"/>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79285ea2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9285ea2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Пользовательский макет">
  <p:cSld name="AUTOLAYOUT">
    <p:bg>
      <p:bgPr>
        <a:solidFill>
          <a:srgbClr val="FFFFFF"/>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txBox="1"/>
          <p:nvPr>
            <p:ph type="title"/>
          </p:nvPr>
        </p:nvSpPr>
        <p:spPr>
          <a:xfrm>
            <a:off x="351600" y="2736850"/>
            <a:ext cx="3997500" cy="1389600"/>
          </a:xfrm>
          <a:prstGeom prst="rect">
            <a:avLst/>
          </a:prstGeom>
          <a:noFill/>
        </p:spPr>
        <p:txBody>
          <a:bodyPr anchorCtr="0" anchor="ctr" bIns="91425" lIns="91425" spcFirstLastPara="1" rIns="91425" wrap="square" tIns="91425">
            <a:noAutofit/>
          </a:bodyPr>
          <a:lstStyle>
            <a:lvl1pPr lvl="0" algn="l">
              <a:lnSpc>
                <a:spcPct val="100000"/>
              </a:lnSpc>
              <a:spcBef>
                <a:spcPts val="0"/>
              </a:spcBef>
              <a:spcAft>
                <a:spcPts val="0"/>
              </a:spcAft>
              <a:buNone/>
              <a:defRPr b="1" sz="2800">
                <a:solidFill>
                  <a:srgbClr val="212121"/>
                </a:solidFill>
              </a:defRPr>
            </a:lvl1pPr>
            <a:lvl2pPr lvl="1" algn="l">
              <a:lnSpc>
                <a:spcPct val="100000"/>
              </a:lnSpc>
              <a:spcBef>
                <a:spcPts val="0"/>
              </a:spcBef>
              <a:spcAft>
                <a:spcPts val="0"/>
              </a:spcAft>
              <a:buNone/>
              <a:defRPr b="1" sz="2800">
                <a:solidFill>
                  <a:srgbClr val="212121"/>
                </a:solidFill>
              </a:defRPr>
            </a:lvl2pPr>
            <a:lvl3pPr lvl="2" algn="l">
              <a:lnSpc>
                <a:spcPct val="100000"/>
              </a:lnSpc>
              <a:spcBef>
                <a:spcPts val="0"/>
              </a:spcBef>
              <a:spcAft>
                <a:spcPts val="0"/>
              </a:spcAft>
              <a:buNone/>
              <a:defRPr b="1" sz="2800">
                <a:solidFill>
                  <a:srgbClr val="212121"/>
                </a:solidFill>
              </a:defRPr>
            </a:lvl3pPr>
            <a:lvl4pPr lvl="3" algn="l">
              <a:lnSpc>
                <a:spcPct val="100000"/>
              </a:lnSpc>
              <a:spcBef>
                <a:spcPts val="0"/>
              </a:spcBef>
              <a:spcAft>
                <a:spcPts val="0"/>
              </a:spcAft>
              <a:buNone/>
              <a:defRPr b="1" sz="2800">
                <a:solidFill>
                  <a:srgbClr val="212121"/>
                </a:solidFill>
              </a:defRPr>
            </a:lvl4pPr>
            <a:lvl5pPr lvl="4" algn="l">
              <a:lnSpc>
                <a:spcPct val="100000"/>
              </a:lnSpc>
              <a:spcBef>
                <a:spcPts val="0"/>
              </a:spcBef>
              <a:spcAft>
                <a:spcPts val="0"/>
              </a:spcAft>
              <a:buNone/>
              <a:defRPr b="1" sz="2800">
                <a:solidFill>
                  <a:srgbClr val="212121"/>
                </a:solidFill>
              </a:defRPr>
            </a:lvl5pPr>
            <a:lvl6pPr lvl="5" algn="l">
              <a:lnSpc>
                <a:spcPct val="100000"/>
              </a:lnSpc>
              <a:spcBef>
                <a:spcPts val="0"/>
              </a:spcBef>
              <a:spcAft>
                <a:spcPts val="0"/>
              </a:spcAft>
              <a:buNone/>
              <a:defRPr b="1" sz="2800">
                <a:solidFill>
                  <a:srgbClr val="212121"/>
                </a:solidFill>
              </a:defRPr>
            </a:lvl6pPr>
            <a:lvl7pPr lvl="6" algn="l">
              <a:lnSpc>
                <a:spcPct val="100000"/>
              </a:lnSpc>
              <a:spcBef>
                <a:spcPts val="0"/>
              </a:spcBef>
              <a:spcAft>
                <a:spcPts val="0"/>
              </a:spcAft>
              <a:buNone/>
              <a:defRPr b="1" sz="2800">
                <a:solidFill>
                  <a:srgbClr val="212121"/>
                </a:solidFill>
              </a:defRPr>
            </a:lvl7pPr>
            <a:lvl8pPr lvl="7" algn="l">
              <a:lnSpc>
                <a:spcPct val="100000"/>
              </a:lnSpc>
              <a:spcBef>
                <a:spcPts val="0"/>
              </a:spcBef>
              <a:spcAft>
                <a:spcPts val="0"/>
              </a:spcAft>
              <a:buNone/>
              <a:defRPr b="1" sz="2800">
                <a:solidFill>
                  <a:srgbClr val="212121"/>
                </a:solidFill>
              </a:defRPr>
            </a:lvl8pPr>
            <a:lvl9pPr lvl="8" algn="l">
              <a:lnSpc>
                <a:spcPct val="100000"/>
              </a:lnSpc>
              <a:spcBef>
                <a:spcPts val="0"/>
              </a:spcBef>
              <a:spcAft>
                <a:spcPts val="0"/>
              </a:spcAft>
              <a:buNone/>
              <a:defRPr b="1" sz="2800">
                <a:solidFill>
                  <a:srgbClr val="212121"/>
                </a:solidFill>
              </a:defRPr>
            </a:lvl9pPr>
          </a:lstStyle>
          <a:p/>
        </p:txBody>
      </p:sp>
      <p:sp>
        <p:nvSpPr>
          <p:cNvPr id="53" name="Google Shape;53;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rgbClr val="C7EBFC">
            <a:alpha val="2487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hyperlink" Target="https://newtonew.com/tech/big-data-vs-canc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2.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 name="Shape 57"/>
        <p:cNvGrpSpPr/>
        <p:nvPr/>
      </p:nvGrpSpPr>
      <p:grpSpPr>
        <a:xfrm>
          <a:off x="0" y="0"/>
          <a:ext cx="0" cy="0"/>
          <a:chOff x="0" y="0"/>
          <a:chExt cx="0" cy="0"/>
        </a:xfrm>
      </p:grpSpPr>
      <p:sp>
        <p:nvSpPr>
          <p:cNvPr id="58" name="Google Shape;5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u"/>
              <a:t>Big Data in medicine</a:t>
            </a:r>
            <a:endParaRPr/>
          </a:p>
        </p:txBody>
      </p:sp>
      <p:sp>
        <p:nvSpPr>
          <p:cNvPr id="59" name="Google Shape;59;p14"/>
          <p:cNvSpPr txBox="1"/>
          <p:nvPr>
            <p:ph idx="1" type="subTitle"/>
          </p:nvPr>
        </p:nvSpPr>
        <p:spPr>
          <a:xfrm>
            <a:off x="265500" y="33572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u" sz="1800">
                <a:solidFill>
                  <a:srgbClr val="000000"/>
                </a:solidFill>
              </a:rPr>
              <a:t>Fedorov Pavel</a:t>
            </a:r>
            <a:endParaRPr sz="1800">
              <a:solidFill>
                <a:srgbClr val="000000"/>
              </a:solidFill>
            </a:endParaRPr>
          </a:p>
          <a:p>
            <a:pPr indent="0" lvl="0" marL="0" rtl="0" algn="ctr">
              <a:spcBef>
                <a:spcPts val="0"/>
              </a:spcBef>
              <a:spcAft>
                <a:spcPts val="0"/>
              </a:spcAft>
              <a:buNone/>
            </a:pPr>
            <a:r>
              <a:rPr lang="ru" sz="1800">
                <a:solidFill>
                  <a:srgbClr val="000000"/>
                </a:solidFill>
              </a:rPr>
              <a:t> Maria Sokolova</a:t>
            </a:r>
            <a:endParaRPr sz="1800">
              <a:solidFill>
                <a:srgbClr val="000000"/>
              </a:solidFill>
            </a:endParaRPr>
          </a:p>
          <a:p>
            <a:pPr indent="0" lvl="0" marL="0" rtl="0" algn="ctr">
              <a:spcBef>
                <a:spcPts val="0"/>
              </a:spcBef>
              <a:spcAft>
                <a:spcPts val="0"/>
              </a:spcAft>
              <a:buNone/>
            </a:pPr>
            <a:r>
              <a:rPr lang="ru" sz="1800">
                <a:solidFill>
                  <a:srgbClr val="000000"/>
                </a:solidFill>
              </a:rPr>
              <a:t> Almaz Murzabekov</a:t>
            </a:r>
            <a:endParaRPr sz="1800">
              <a:solidFill>
                <a:srgbClr val="000000"/>
              </a:solidFill>
            </a:endParaRPr>
          </a:p>
        </p:txBody>
      </p:sp>
      <p:sp>
        <p:nvSpPr>
          <p:cNvPr id="60" name="Google Shape;60;p1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t/>
            </a:r>
            <a:endParaRPr/>
          </a:p>
        </p:txBody>
      </p:sp>
      <p:pic>
        <p:nvPicPr>
          <p:cNvPr id="61" name="Google Shape;61;p14"/>
          <p:cNvPicPr preferRelativeResize="0"/>
          <p:nvPr/>
        </p:nvPicPr>
        <p:blipFill>
          <a:blip r:embed="rId3">
            <a:alphaModFix/>
          </a:blip>
          <a:stretch>
            <a:fillRect/>
          </a:stretch>
        </p:blipFill>
        <p:spPr>
          <a:xfrm>
            <a:off x="4939500" y="724075"/>
            <a:ext cx="3837000" cy="3695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68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latin typeface="Roboto"/>
                <a:ea typeface="Roboto"/>
                <a:cs typeface="Roboto"/>
                <a:sym typeface="Roboto"/>
              </a:rPr>
              <a:t>Some statistics</a:t>
            </a:r>
            <a:endParaRPr>
              <a:latin typeface="Roboto"/>
              <a:ea typeface="Roboto"/>
              <a:cs typeface="Roboto"/>
              <a:sym typeface="Roboto"/>
            </a:endParaRPr>
          </a:p>
          <a:p>
            <a:pPr indent="0" lvl="0" marL="0" rtl="0" algn="l">
              <a:spcBef>
                <a:spcPts val="0"/>
              </a:spcBef>
              <a:spcAft>
                <a:spcPts val="0"/>
              </a:spcAft>
              <a:buNone/>
            </a:pPr>
            <a:r>
              <a:rPr lang="ru" sz="1400">
                <a:latin typeface="Roboto"/>
                <a:ea typeface="Roboto"/>
                <a:cs typeface="Roboto"/>
                <a:sym typeface="Roboto"/>
              </a:rPr>
              <a:t>(all numbers are dated back to the end of 2018)</a:t>
            </a:r>
            <a:endParaRPr sz="1400">
              <a:latin typeface="Roboto"/>
              <a:ea typeface="Roboto"/>
              <a:cs typeface="Roboto"/>
              <a:sym typeface="Roboto"/>
            </a:endParaRPr>
          </a:p>
        </p:txBody>
      </p:sp>
      <p:sp>
        <p:nvSpPr>
          <p:cNvPr id="67" name="Google Shape;67;p15"/>
          <p:cNvSpPr txBox="1"/>
          <p:nvPr>
            <p:ph idx="1" type="body"/>
          </p:nvPr>
        </p:nvSpPr>
        <p:spPr>
          <a:xfrm>
            <a:off x="311700" y="1103025"/>
            <a:ext cx="85206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Roboto"/>
                <a:ea typeface="Roboto"/>
                <a:cs typeface="Roboto"/>
                <a:sym typeface="Roboto"/>
              </a:rPr>
              <a:t>143,4M - population of Russia</a:t>
            </a:r>
            <a:endParaRPr>
              <a:solidFill>
                <a:srgbClr val="000000"/>
              </a:solidFill>
              <a:latin typeface="Roboto"/>
              <a:ea typeface="Roboto"/>
              <a:cs typeface="Roboto"/>
              <a:sym typeface="Roboto"/>
            </a:endParaRPr>
          </a:p>
          <a:p>
            <a:pPr indent="0" lvl="0" marL="0" rtl="0" algn="l">
              <a:spcBef>
                <a:spcPts val="0"/>
              </a:spcBef>
              <a:spcAft>
                <a:spcPts val="0"/>
              </a:spcAft>
              <a:buNone/>
            </a:pPr>
            <a:r>
              <a:t/>
            </a:r>
            <a:endParaRPr>
              <a:solidFill>
                <a:srgbClr val="000000"/>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rgbClr val="000000"/>
              </a:solidFill>
              <a:latin typeface="Roboto"/>
              <a:ea typeface="Roboto"/>
              <a:cs typeface="Roboto"/>
              <a:sym typeface="Roboto"/>
            </a:endParaRPr>
          </a:p>
          <a:p>
            <a:pPr indent="0" lvl="0" marL="0" rtl="0" algn="l">
              <a:spcBef>
                <a:spcPts val="0"/>
              </a:spcBef>
              <a:spcAft>
                <a:spcPts val="1600"/>
              </a:spcAft>
              <a:buNone/>
            </a:pPr>
            <a:r>
              <a:t/>
            </a:r>
            <a:endParaRPr>
              <a:solidFill>
                <a:srgbClr val="000000"/>
              </a:solidFill>
              <a:latin typeface="Roboto"/>
              <a:ea typeface="Roboto"/>
              <a:cs typeface="Roboto"/>
              <a:sym typeface="Roboto"/>
            </a:endParaRPr>
          </a:p>
        </p:txBody>
      </p:sp>
      <p:sp>
        <p:nvSpPr>
          <p:cNvPr id="68" name="Google Shape;68;p15"/>
          <p:cNvSpPr txBox="1"/>
          <p:nvPr>
            <p:ph idx="1" type="body"/>
          </p:nvPr>
        </p:nvSpPr>
        <p:spPr>
          <a:xfrm>
            <a:off x="311700" y="2461663"/>
            <a:ext cx="8520600" cy="5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Roboto"/>
                <a:ea typeface="Roboto"/>
                <a:cs typeface="Roboto"/>
                <a:sym typeface="Roboto"/>
              </a:rPr>
              <a:t>291K</a:t>
            </a:r>
            <a:r>
              <a:rPr lang="ru">
                <a:solidFill>
                  <a:schemeClr val="dk1"/>
                </a:solidFill>
                <a:latin typeface="Roboto"/>
                <a:ea typeface="Roboto"/>
                <a:cs typeface="Roboto"/>
                <a:sym typeface="Roboto"/>
              </a:rPr>
              <a:t> </a:t>
            </a:r>
            <a:r>
              <a:rPr lang="ru">
                <a:solidFill>
                  <a:srgbClr val="000000"/>
                </a:solidFill>
                <a:latin typeface="Roboto"/>
                <a:ea typeface="Roboto"/>
                <a:cs typeface="Roboto"/>
                <a:sym typeface="Roboto"/>
              </a:rPr>
              <a:t>- died of malignant tumors in 2018</a:t>
            </a:r>
            <a:endParaRPr>
              <a:solidFill>
                <a:srgbClr val="000000"/>
              </a:solidFill>
              <a:latin typeface="Roboto"/>
              <a:ea typeface="Roboto"/>
              <a:cs typeface="Roboto"/>
              <a:sym typeface="Roboto"/>
            </a:endParaRPr>
          </a:p>
          <a:p>
            <a:pPr indent="0" lvl="0" marL="0" rtl="0" algn="l">
              <a:spcBef>
                <a:spcPts val="0"/>
              </a:spcBef>
              <a:spcAft>
                <a:spcPts val="0"/>
              </a:spcAft>
              <a:buNone/>
            </a:pPr>
            <a:r>
              <a:t/>
            </a:r>
            <a:endParaRPr>
              <a:solidFill>
                <a:srgbClr val="000000"/>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rgbClr val="000000"/>
              </a:solidFill>
              <a:latin typeface="Roboto"/>
              <a:ea typeface="Roboto"/>
              <a:cs typeface="Roboto"/>
              <a:sym typeface="Roboto"/>
            </a:endParaRPr>
          </a:p>
          <a:p>
            <a:pPr indent="0" lvl="0" marL="0" rtl="0" algn="l">
              <a:spcBef>
                <a:spcPts val="0"/>
              </a:spcBef>
              <a:spcAft>
                <a:spcPts val="1600"/>
              </a:spcAft>
              <a:buNone/>
            </a:pPr>
            <a:r>
              <a:t/>
            </a:r>
            <a:endParaRPr>
              <a:solidFill>
                <a:srgbClr val="000000"/>
              </a:solidFill>
              <a:latin typeface="Roboto"/>
              <a:ea typeface="Roboto"/>
              <a:cs typeface="Roboto"/>
              <a:sym typeface="Roboto"/>
            </a:endParaRPr>
          </a:p>
        </p:txBody>
      </p:sp>
      <p:sp>
        <p:nvSpPr>
          <p:cNvPr id="69" name="Google Shape;69;p15"/>
          <p:cNvSpPr txBox="1"/>
          <p:nvPr>
            <p:ph idx="1" type="body"/>
          </p:nvPr>
        </p:nvSpPr>
        <p:spPr>
          <a:xfrm>
            <a:off x="311700" y="1954075"/>
            <a:ext cx="85206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Roboto"/>
                <a:ea typeface="Roboto"/>
                <a:cs typeface="Roboto"/>
                <a:sym typeface="Roboto"/>
              </a:rPr>
              <a:t>541K– onco patients firstly identified in 2018</a:t>
            </a:r>
            <a:endParaRPr>
              <a:solidFill>
                <a:srgbClr val="000000"/>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rgbClr val="000000"/>
              </a:solidFill>
              <a:latin typeface="Roboto"/>
              <a:ea typeface="Roboto"/>
              <a:cs typeface="Roboto"/>
              <a:sym typeface="Roboto"/>
            </a:endParaRPr>
          </a:p>
          <a:p>
            <a:pPr indent="0" lvl="0" marL="0" rtl="0" algn="l">
              <a:spcBef>
                <a:spcPts val="0"/>
              </a:spcBef>
              <a:spcAft>
                <a:spcPts val="1600"/>
              </a:spcAft>
              <a:buNone/>
            </a:pPr>
            <a:r>
              <a:t/>
            </a:r>
            <a:endParaRPr>
              <a:solidFill>
                <a:srgbClr val="000000"/>
              </a:solidFill>
              <a:latin typeface="Roboto"/>
              <a:ea typeface="Roboto"/>
              <a:cs typeface="Roboto"/>
              <a:sym typeface="Roboto"/>
            </a:endParaRPr>
          </a:p>
        </p:txBody>
      </p:sp>
      <p:sp>
        <p:nvSpPr>
          <p:cNvPr id="70" name="Google Shape;70;p15"/>
          <p:cNvSpPr txBox="1"/>
          <p:nvPr>
            <p:ph idx="1" type="body"/>
          </p:nvPr>
        </p:nvSpPr>
        <p:spPr>
          <a:xfrm>
            <a:off x="311700" y="1519725"/>
            <a:ext cx="8520600" cy="5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Roboto"/>
                <a:ea typeface="Roboto"/>
                <a:cs typeface="Roboto"/>
                <a:sym typeface="Roboto"/>
              </a:rPr>
              <a:t>3,6M– registered onco patients at the end of the year</a:t>
            </a:r>
            <a:endParaRPr>
              <a:solidFill>
                <a:srgbClr val="000000"/>
              </a:solidFill>
              <a:latin typeface="Roboto"/>
              <a:ea typeface="Roboto"/>
              <a:cs typeface="Roboto"/>
              <a:sym typeface="Roboto"/>
            </a:endParaRPr>
          </a:p>
          <a:p>
            <a:pPr indent="0" lvl="0" marL="0" rtl="0" algn="l">
              <a:spcBef>
                <a:spcPts val="0"/>
              </a:spcBef>
              <a:spcAft>
                <a:spcPts val="0"/>
              </a:spcAft>
              <a:buNone/>
            </a:pPr>
            <a:r>
              <a:t/>
            </a:r>
            <a:endParaRPr>
              <a:solidFill>
                <a:srgbClr val="000000"/>
              </a:solidFill>
              <a:latin typeface="Roboto"/>
              <a:ea typeface="Roboto"/>
              <a:cs typeface="Roboto"/>
              <a:sym typeface="Roboto"/>
            </a:endParaRPr>
          </a:p>
        </p:txBody>
      </p:sp>
      <p:sp>
        <p:nvSpPr>
          <p:cNvPr id="71" name="Google Shape;71;p15"/>
          <p:cNvSpPr txBox="1"/>
          <p:nvPr>
            <p:ph idx="1" type="body"/>
          </p:nvPr>
        </p:nvSpPr>
        <p:spPr>
          <a:xfrm>
            <a:off x="270550" y="2938150"/>
            <a:ext cx="8520600" cy="5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Roboto"/>
                <a:ea typeface="Roboto"/>
                <a:cs typeface="Roboto"/>
                <a:sym typeface="Roboto"/>
              </a:rPr>
              <a:t>16% - in the general structure of mortality</a:t>
            </a:r>
            <a:endParaRPr>
              <a:solidFill>
                <a:srgbClr val="000000"/>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rgbClr val="000000"/>
              </a:solidFill>
              <a:latin typeface="Roboto"/>
              <a:ea typeface="Roboto"/>
              <a:cs typeface="Roboto"/>
              <a:sym typeface="Roboto"/>
            </a:endParaRPr>
          </a:p>
          <a:p>
            <a:pPr indent="0" lvl="0" marL="0" rtl="0" algn="l">
              <a:spcBef>
                <a:spcPts val="0"/>
              </a:spcBef>
              <a:spcAft>
                <a:spcPts val="1600"/>
              </a:spcAft>
              <a:buNone/>
            </a:pPr>
            <a:r>
              <a:t/>
            </a:r>
            <a:endParaRPr>
              <a:solidFill>
                <a:srgbClr val="000000"/>
              </a:solidFill>
              <a:latin typeface="Roboto"/>
              <a:ea typeface="Roboto"/>
              <a:cs typeface="Roboto"/>
              <a:sym typeface="Roboto"/>
            </a:endParaRPr>
          </a:p>
        </p:txBody>
      </p:sp>
      <p:sp>
        <p:nvSpPr>
          <p:cNvPr id="72" name="Google Shape;72;p15"/>
          <p:cNvSpPr txBox="1"/>
          <p:nvPr/>
        </p:nvSpPr>
        <p:spPr>
          <a:xfrm>
            <a:off x="0" y="5038200"/>
            <a:ext cx="9144000" cy="105300"/>
          </a:xfrm>
          <a:prstGeom prst="rect">
            <a:avLst/>
          </a:prstGeom>
          <a:solidFill>
            <a:srgbClr val="0B539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3" name="Google Shape;73;p15"/>
          <p:cNvPicPr preferRelativeResize="0"/>
          <p:nvPr/>
        </p:nvPicPr>
        <p:blipFill>
          <a:blip r:embed="rId3">
            <a:alphaModFix/>
          </a:blip>
          <a:stretch>
            <a:fillRect/>
          </a:stretch>
        </p:blipFill>
        <p:spPr>
          <a:xfrm>
            <a:off x="0" y="3551775"/>
            <a:ext cx="9144003" cy="1486426"/>
          </a:xfrm>
          <a:prstGeom prst="rect">
            <a:avLst/>
          </a:prstGeom>
          <a:noFill/>
          <a:ln cap="flat" cmpd="sng" w="19050">
            <a:solidFill>
              <a:srgbClr val="073763"/>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6"/>
          <p:cNvSpPr txBox="1"/>
          <p:nvPr>
            <p:ph type="title"/>
          </p:nvPr>
        </p:nvSpPr>
        <p:spPr>
          <a:xfrm>
            <a:off x="206450" y="2345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latin typeface="Roboto"/>
                <a:ea typeface="Roboto"/>
                <a:cs typeface="Roboto"/>
                <a:sym typeface="Roboto"/>
              </a:rPr>
              <a:t>APPLICATION OF BIG DATA IN ONCOLOGY</a:t>
            </a:r>
            <a:endParaRPr>
              <a:latin typeface="Roboto"/>
              <a:ea typeface="Roboto"/>
              <a:cs typeface="Roboto"/>
              <a:sym typeface="Roboto"/>
            </a:endParaRPr>
          </a:p>
        </p:txBody>
      </p:sp>
      <p:sp>
        <p:nvSpPr>
          <p:cNvPr id="79" name="Google Shape;79;p16"/>
          <p:cNvSpPr txBox="1"/>
          <p:nvPr>
            <p:ph idx="1" type="body"/>
          </p:nvPr>
        </p:nvSpPr>
        <p:spPr>
          <a:xfrm>
            <a:off x="88075" y="1209700"/>
            <a:ext cx="8520600" cy="39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22222"/>
              </a:buClr>
              <a:buSzPts val="1800"/>
              <a:buFont typeface="Roboto"/>
              <a:buChar char="●"/>
            </a:pPr>
            <a:r>
              <a:rPr lang="ru">
                <a:solidFill>
                  <a:srgbClr val="222222"/>
                </a:solidFill>
                <a:latin typeface="Roboto"/>
                <a:ea typeface="Roboto"/>
                <a:cs typeface="Roboto"/>
                <a:sym typeface="Roboto"/>
              </a:rPr>
              <a:t>Implementation of electronic patient card</a:t>
            </a:r>
            <a:endParaRPr>
              <a:solidFill>
                <a:srgbClr val="222222"/>
              </a:solidFill>
              <a:latin typeface="Roboto"/>
              <a:ea typeface="Roboto"/>
              <a:cs typeface="Roboto"/>
              <a:sym typeface="Roboto"/>
            </a:endParaRPr>
          </a:p>
          <a:p>
            <a:pPr indent="0" lvl="0" marL="0" rtl="0" algn="l">
              <a:spcBef>
                <a:spcPts val="1200"/>
              </a:spcBef>
              <a:spcAft>
                <a:spcPts val="1600"/>
              </a:spcAft>
              <a:buNone/>
            </a:pPr>
            <a:r>
              <a:t/>
            </a:r>
            <a:endParaRPr>
              <a:latin typeface="Roboto"/>
              <a:ea typeface="Roboto"/>
              <a:cs typeface="Roboto"/>
              <a:sym typeface="Roboto"/>
            </a:endParaRPr>
          </a:p>
        </p:txBody>
      </p:sp>
      <p:sp>
        <p:nvSpPr>
          <p:cNvPr id="80" name="Google Shape;80;p16"/>
          <p:cNvSpPr txBox="1"/>
          <p:nvPr/>
        </p:nvSpPr>
        <p:spPr>
          <a:xfrm>
            <a:off x="0" y="5038200"/>
            <a:ext cx="9144000" cy="105300"/>
          </a:xfrm>
          <a:prstGeom prst="rect">
            <a:avLst/>
          </a:prstGeom>
          <a:solidFill>
            <a:srgbClr val="0B539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nvSpPr>
        <p:spPr>
          <a:xfrm>
            <a:off x="88075" y="2318125"/>
            <a:ext cx="5906400" cy="39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22222"/>
              </a:buClr>
              <a:buSzPts val="1800"/>
              <a:buFont typeface="Roboto"/>
              <a:buChar char="●"/>
            </a:pPr>
            <a:r>
              <a:rPr lang="ru" sz="1800">
                <a:solidFill>
                  <a:srgbClr val="222222"/>
                </a:solidFill>
                <a:latin typeface="Roboto"/>
                <a:ea typeface="Roboto"/>
                <a:cs typeface="Roboto"/>
                <a:sym typeface="Roboto"/>
              </a:rPr>
              <a:t>Quality improvement of clinical trials</a:t>
            </a:r>
            <a:endParaRPr sz="1800">
              <a:latin typeface="Roboto"/>
              <a:ea typeface="Roboto"/>
              <a:cs typeface="Roboto"/>
              <a:sym typeface="Roboto"/>
            </a:endParaRPr>
          </a:p>
        </p:txBody>
      </p:sp>
      <p:sp>
        <p:nvSpPr>
          <p:cNvPr id="82" name="Google Shape;82;p16"/>
          <p:cNvSpPr txBox="1"/>
          <p:nvPr/>
        </p:nvSpPr>
        <p:spPr>
          <a:xfrm>
            <a:off x="88075" y="1796800"/>
            <a:ext cx="5906400" cy="39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22222"/>
              </a:buClr>
              <a:buSzPts val="1800"/>
              <a:buFont typeface="Roboto"/>
              <a:buChar char="●"/>
            </a:pPr>
            <a:r>
              <a:rPr lang="ru" sz="1800">
                <a:solidFill>
                  <a:srgbClr val="222222"/>
                </a:solidFill>
                <a:latin typeface="Roboto"/>
                <a:ea typeface="Roboto"/>
                <a:cs typeface="Roboto"/>
                <a:sym typeface="Roboto"/>
              </a:rPr>
              <a:t>Fundamental breakthrough researches</a:t>
            </a:r>
            <a:endParaRPr sz="1800">
              <a:latin typeface="Roboto"/>
              <a:ea typeface="Roboto"/>
              <a:cs typeface="Roboto"/>
              <a:sym typeface="Roboto"/>
            </a:endParaRPr>
          </a:p>
        </p:txBody>
      </p:sp>
      <p:sp>
        <p:nvSpPr>
          <p:cNvPr id="83" name="Google Shape;83;p16"/>
          <p:cNvSpPr txBox="1"/>
          <p:nvPr/>
        </p:nvSpPr>
        <p:spPr>
          <a:xfrm>
            <a:off x="88075" y="3360775"/>
            <a:ext cx="5906400" cy="39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22222"/>
              </a:buClr>
              <a:buSzPts val="1800"/>
              <a:buFont typeface="Roboto"/>
              <a:buChar char="●"/>
            </a:pPr>
            <a:r>
              <a:rPr lang="ru" sz="1800">
                <a:solidFill>
                  <a:srgbClr val="222222"/>
                </a:solidFill>
                <a:latin typeface="Roboto"/>
                <a:ea typeface="Roboto"/>
                <a:cs typeface="Roboto"/>
                <a:sym typeface="Roboto"/>
              </a:rPr>
              <a:t>Computer-aided image processing</a:t>
            </a:r>
            <a:endParaRPr sz="1800">
              <a:solidFill>
                <a:srgbClr val="222222"/>
              </a:solidFill>
              <a:latin typeface="Roboto"/>
              <a:ea typeface="Roboto"/>
              <a:cs typeface="Roboto"/>
              <a:sym typeface="Roboto"/>
            </a:endParaRPr>
          </a:p>
        </p:txBody>
      </p:sp>
      <p:sp>
        <p:nvSpPr>
          <p:cNvPr id="84" name="Google Shape;84;p16"/>
          <p:cNvSpPr txBox="1"/>
          <p:nvPr/>
        </p:nvSpPr>
        <p:spPr>
          <a:xfrm>
            <a:off x="88075" y="2839450"/>
            <a:ext cx="5906400" cy="39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22222"/>
              </a:buClr>
              <a:buSzPts val="1800"/>
              <a:buFont typeface="Roboto"/>
              <a:buChar char="●"/>
            </a:pPr>
            <a:r>
              <a:rPr lang="ru" sz="1800">
                <a:solidFill>
                  <a:srgbClr val="222222"/>
                </a:solidFill>
                <a:latin typeface="Roboto"/>
                <a:ea typeface="Roboto"/>
                <a:cs typeface="Roboto"/>
                <a:sym typeface="Roboto"/>
              </a:rPr>
              <a:t>Personalized medicine</a:t>
            </a:r>
            <a:endParaRPr sz="1800">
              <a:latin typeface="Roboto"/>
              <a:ea typeface="Roboto"/>
              <a:cs typeface="Roboto"/>
              <a:sym typeface="Roboto"/>
            </a:endParaRPr>
          </a:p>
        </p:txBody>
      </p:sp>
      <p:pic>
        <p:nvPicPr>
          <p:cNvPr id="85" name="Google Shape;85;p16"/>
          <p:cNvPicPr preferRelativeResize="0"/>
          <p:nvPr/>
        </p:nvPicPr>
        <p:blipFill>
          <a:blip r:embed="rId3">
            <a:alphaModFix/>
          </a:blip>
          <a:stretch>
            <a:fillRect/>
          </a:stretch>
        </p:blipFill>
        <p:spPr>
          <a:xfrm>
            <a:off x="5209350" y="1168600"/>
            <a:ext cx="3749651" cy="3398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Personalized medicine is the decision</a:t>
            </a:r>
            <a:r>
              <a:rPr lang="ru"/>
              <a:t> </a:t>
            </a:r>
            <a:endParaRPr/>
          </a:p>
        </p:txBody>
      </p:sp>
      <p:sp>
        <p:nvSpPr>
          <p:cNvPr id="91" name="Google Shape;91;p17"/>
          <p:cNvSpPr txBox="1"/>
          <p:nvPr>
            <p:ph idx="1" type="body"/>
          </p:nvPr>
        </p:nvSpPr>
        <p:spPr>
          <a:xfrm>
            <a:off x="311700" y="1152475"/>
            <a:ext cx="53688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ru"/>
              <a:t>The main problem is uniqueness of tumours</a:t>
            </a:r>
            <a:endParaRPr/>
          </a:p>
          <a:p>
            <a:pPr indent="-342900" lvl="0" marL="457200" rtl="0" algn="l">
              <a:spcBef>
                <a:spcPts val="0"/>
              </a:spcBef>
              <a:spcAft>
                <a:spcPts val="0"/>
              </a:spcAft>
              <a:buSzPts val="1800"/>
              <a:buChar char="-"/>
            </a:pPr>
            <a:r>
              <a:rPr lang="ru"/>
              <a:t>Better treatment is based on the pathology of tumour </a:t>
            </a:r>
            <a:endParaRPr/>
          </a:p>
          <a:p>
            <a:pPr indent="-342900" lvl="0" marL="457200" rtl="0" algn="l">
              <a:spcBef>
                <a:spcPts val="0"/>
              </a:spcBef>
              <a:spcAft>
                <a:spcPts val="0"/>
              </a:spcAft>
              <a:buSzPts val="1800"/>
              <a:buChar char="-"/>
            </a:pPr>
            <a:r>
              <a:rPr lang="ru"/>
              <a:t>Med analytical &amp; pharma companies merge</a:t>
            </a:r>
            <a:endParaRPr/>
          </a:p>
          <a:p>
            <a:pPr indent="-342900" lvl="0" marL="457200" rtl="0" algn="l">
              <a:spcBef>
                <a:spcPts val="0"/>
              </a:spcBef>
              <a:spcAft>
                <a:spcPts val="0"/>
              </a:spcAft>
              <a:buSzPts val="1800"/>
              <a:buChar char="-"/>
            </a:pPr>
            <a:r>
              <a:rPr lang="ru"/>
              <a:t>Huge amount of clinical records</a:t>
            </a:r>
            <a:endParaRPr/>
          </a:p>
          <a:p>
            <a:pPr indent="-342900" lvl="0" marL="457200" rtl="0" algn="l">
              <a:spcBef>
                <a:spcPts val="0"/>
              </a:spcBef>
              <a:spcAft>
                <a:spcPts val="0"/>
              </a:spcAft>
              <a:buSzPts val="1800"/>
              <a:buChar char="-"/>
            </a:pPr>
            <a:r>
              <a:rPr lang="ru"/>
              <a:t>Matching our client with examples</a:t>
            </a:r>
            <a:endParaRPr/>
          </a:p>
        </p:txBody>
      </p:sp>
      <p:sp>
        <p:nvSpPr>
          <p:cNvPr id="92" name="Google Shape;92;p17"/>
          <p:cNvSpPr txBox="1"/>
          <p:nvPr/>
        </p:nvSpPr>
        <p:spPr>
          <a:xfrm>
            <a:off x="0" y="5038200"/>
            <a:ext cx="9144000" cy="105300"/>
          </a:xfrm>
          <a:prstGeom prst="rect">
            <a:avLst/>
          </a:prstGeom>
          <a:solidFill>
            <a:srgbClr val="0B539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3" name="Google Shape;93;p17"/>
          <p:cNvPicPr preferRelativeResize="0"/>
          <p:nvPr/>
        </p:nvPicPr>
        <p:blipFill>
          <a:blip r:embed="rId3">
            <a:alphaModFix/>
          </a:blip>
          <a:stretch>
            <a:fillRect/>
          </a:stretch>
        </p:blipFill>
        <p:spPr>
          <a:xfrm>
            <a:off x="5738825" y="1241850"/>
            <a:ext cx="3024175" cy="3113675"/>
          </a:xfrm>
          <a:prstGeom prst="rect">
            <a:avLst/>
          </a:prstGeom>
          <a:noFill/>
          <a:ln>
            <a:noFill/>
          </a:ln>
        </p:spPr>
      </p:pic>
      <p:sp>
        <p:nvSpPr>
          <p:cNvPr id="94" name="Google Shape;94;p17"/>
          <p:cNvSpPr txBox="1"/>
          <p:nvPr/>
        </p:nvSpPr>
        <p:spPr>
          <a:xfrm>
            <a:off x="5680500" y="4405875"/>
            <a:ext cx="31518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t>[</a:t>
            </a:r>
            <a:r>
              <a:rPr lang="ru" sz="1100" u="sng">
                <a:solidFill>
                  <a:schemeClr val="hlink"/>
                </a:solidFill>
                <a:hlinkClick r:id="rId4"/>
              </a:rPr>
              <a:t>https://newtonew.com/tech/big-data-vs-cancer</a:t>
            </a:r>
            <a:r>
              <a:rPr lang="ru"/>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8"/>
          <p:cNvSpPr txBox="1"/>
          <p:nvPr>
            <p:ph type="title"/>
          </p:nvPr>
        </p:nvSpPr>
        <p:spPr>
          <a:xfrm>
            <a:off x="1158975" y="357775"/>
            <a:ext cx="410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latin typeface="Roboto"/>
                <a:ea typeface="Roboto"/>
                <a:cs typeface="Roboto"/>
                <a:sym typeface="Roboto"/>
              </a:rPr>
              <a:t>Computer Vision</a:t>
            </a:r>
            <a:endParaRPr>
              <a:latin typeface="Roboto"/>
              <a:ea typeface="Roboto"/>
              <a:cs typeface="Roboto"/>
              <a:sym typeface="Roboto"/>
            </a:endParaRPr>
          </a:p>
        </p:txBody>
      </p:sp>
      <p:sp>
        <p:nvSpPr>
          <p:cNvPr id="100" name="Google Shape;100;p18"/>
          <p:cNvSpPr txBox="1"/>
          <p:nvPr/>
        </p:nvSpPr>
        <p:spPr>
          <a:xfrm>
            <a:off x="0" y="5038200"/>
            <a:ext cx="9144000" cy="105300"/>
          </a:xfrm>
          <a:prstGeom prst="rect">
            <a:avLst/>
          </a:prstGeom>
          <a:solidFill>
            <a:srgbClr val="0B539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1" name="Google Shape;101;p18"/>
          <p:cNvPicPr preferRelativeResize="0"/>
          <p:nvPr/>
        </p:nvPicPr>
        <p:blipFill>
          <a:blip r:embed="rId3">
            <a:alphaModFix/>
          </a:blip>
          <a:stretch>
            <a:fillRect/>
          </a:stretch>
        </p:blipFill>
        <p:spPr>
          <a:xfrm>
            <a:off x="2927225" y="930475"/>
            <a:ext cx="1713599" cy="1465461"/>
          </a:xfrm>
          <a:prstGeom prst="rect">
            <a:avLst/>
          </a:prstGeom>
          <a:noFill/>
          <a:ln>
            <a:noFill/>
          </a:ln>
        </p:spPr>
      </p:pic>
      <p:pic>
        <p:nvPicPr>
          <p:cNvPr id="102" name="Google Shape;102;p18"/>
          <p:cNvPicPr preferRelativeResize="0"/>
          <p:nvPr/>
        </p:nvPicPr>
        <p:blipFill>
          <a:blip r:embed="rId4">
            <a:alphaModFix/>
          </a:blip>
          <a:stretch>
            <a:fillRect/>
          </a:stretch>
        </p:blipFill>
        <p:spPr>
          <a:xfrm>
            <a:off x="200750" y="930475"/>
            <a:ext cx="2545544" cy="1465451"/>
          </a:xfrm>
          <a:prstGeom prst="rect">
            <a:avLst/>
          </a:prstGeom>
          <a:noFill/>
          <a:ln>
            <a:noFill/>
          </a:ln>
        </p:spPr>
      </p:pic>
      <p:pic>
        <p:nvPicPr>
          <p:cNvPr id="103" name="Google Shape;103;p18"/>
          <p:cNvPicPr preferRelativeResize="0"/>
          <p:nvPr/>
        </p:nvPicPr>
        <p:blipFill>
          <a:blip r:embed="rId5">
            <a:alphaModFix/>
          </a:blip>
          <a:stretch>
            <a:fillRect/>
          </a:stretch>
        </p:blipFill>
        <p:spPr>
          <a:xfrm>
            <a:off x="157039" y="2704600"/>
            <a:ext cx="2097400" cy="1854250"/>
          </a:xfrm>
          <a:prstGeom prst="rect">
            <a:avLst/>
          </a:prstGeom>
          <a:noFill/>
          <a:ln>
            <a:noFill/>
          </a:ln>
        </p:spPr>
      </p:pic>
      <p:sp>
        <p:nvSpPr>
          <p:cNvPr id="104" name="Google Shape;104;p18"/>
          <p:cNvSpPr txBox="1"/>
          <p:nvPr/>
        </p:nvSpPr>
        <p:spPr>
          <a:xfrm>
            <a:off x="360200" y="4543788"/>
            <a:ext cx="1945800" cy="4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t>Ultrasound scans</a:t>
            </a:r>
            <a:endParaRPr/>
          </a:p>
          <a:p>
            <a:pPr indent="0" lvl="0" marL="0" rtl="0" algn="l">
              <a:spcBef>
                <a:spcPts val="0"/>
              </a:spcBef>
              <a:spcAft>
                <a:spcPts val="0"/>
              </a:spcAft>
              <a:buNone/>
            </a:pPr>
            <a:r>
              <a:t/>
            </a:r>
            <a:endParaRPr/>
          </a:p>
        </p:txBody>
      </p:sp>
      <p:sp>
        <p:nvSpPr>
          <p:cNvPr id="105" name="Google Shape;105;p18"/>
          <p:cNvSpPr txBox="1"/>
          <p:nvPr/>
        </p:nvSpPr>
        <p:spPr>
          <a:xfrm>
            <a:off x="3433725" y="2338713"/>
            <a:ext cx="792900" cy="3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t>X-Ray</a:t>
            </a:r>
            <a:endParaRPr>
              <a:latin typeface="Roboto"/>
              <a:ea typeface="Roboto"/>
              <a:cs typeface="Roboto"/>
              <a:sym typeface="Roboto"/>
            </a:endParaRPr>
          </a:p>
        </p:txBody>
      </p:sp>
      <p:sp>
        <p:nvSpPr>
          <p:cNvPr id="106" name="Google Shape;106;p18"/>
          <p:cNvSpPr txBox="1"/>
          <p:nvPr/>
        </p:nvSpPr>
        <p:spPr>
          <a:xfrm>
            <a:off x="157038" y="2303913"/>
            <a:ext cx="2835300" cy="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t>Computed tomography</a:t>
            </a:r>
            <a:endParaRPr/>
          </a:p>
        </p:txBody>
      </p:sp>
      <p:pic>
        <p:nvPicPr>
          <p:cNvPr id="107" name="Google Shape;107;p18"/>
          <p:cNvPicPr preferRelativeResize="0"/>
          <p:nvPr/>
        </p:nvPicPr>
        <p:blipFill>
          <a:blip r:embed="rId6">
            <a:alphaModFix/>
          </a:blip>
          <a:stretch>
            <a:fillRect/>
          </a:stretch>
        </p:blipFill>
        <p:spPr>
          <a:xfrm>
            <a:off x="2437004" y="2724638"/>
            <a:ext cx="2198633" cy="1778975"/>
          </a:xfrm>
          <a:prstGeom prst="rect">
            <a:avLst/>
          </a:prstGeom>
          <a:noFill/>
          <a:ln>
            <a:noFill/>
          </a:ln>
        </p:spPr>
      </p:pic>
      <p:sp>
        <p:nvSpPr>
          <p:cNvPr id="108" name="Google Shape;108;p18"/>
          <p:cNvSpPr txBox="1"/>
          <p:nvPr/>
        </p:nvSpPr>
        <p:spPr>
          <a:xfrm>
            <a:off x="2211363" y="4535225"/>
            <a:ext cx="2649900" cy="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t>Magnetic resonance imaging</a:t>
            </a:r>
            <a:endParaRPr/>
          </a:p>
        </p:txBody>
      </p:sp>
      <p:pic>
        <p:nvPicPr>
          <p:cNvPr id="109" name="Google Shape;109;p18"/>
          <p:cNvPicPr preferRelativeResize="0"/>
          <p:nvPr/>
        </p:nvPicPr>
        <p:blipFill>
          <a:blip r:embed="rId7">
            <a:alphaModFix/>
          </a:blip>
          <a:stretch>
            <a:fillRect/>
          </a:stretch>
        </p:blipFill>
        <p:spPr>
          <a:xfrm>
            <a:off x="4815775" y="2469200"/>
            <a:ext cx="4102412" cy="1938225"/>
          </a:xfrm>
          <a:prstGeom prst="rect">
            <a:avLst/>
          </a:prstGeom>
          <a:noFill/>
          <a:ln cap="flat" cmpd="sng" w="28575">
            <a:solidFill>
              <a:schemeClr val="dk2"/>
            </a:solidFill>
            <a:prstDash val="solid"/>
            <a:round/>
            <a:headEnd len="sm" w="sm" type="none"/>
            <a:tailEnd len="sm" w="sm" type="none"/>
          </a:ln>
        </p:spPr>
      </p:pic>
      <p:sp>
        <p:nvSpPr>
          <p:cNvPr id="110" name="Google Shape;110;p18"/>
          <p:cNvSpPr txBox="1"/>
          <p:nvPr/>
        </p:nvSpPr>
        <p:spPr>
          <a:xfrm>
            <a:off x="6010175" y="4407425"/>
            <a:ext cx="2435700" cy="3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latin typeface="Roboto"/>
                <a:ea typeface="Roboto"/>
                <a:cs typeface="Roboto"/>
                <a:sym typeface="Roboto"/>
              </a:rPr>
              <a:t>CNN architecture</a:t>
            </a:r>
            <a:endParaRPr>
              <a:latin typeface="Roboto"/>
              <a:ea typeface="Roboto"/>
              <a:cs typeface="Roboto"/>
              <a:sym typeface="Roboto"/>
            </a:endParaRPr>
          </a:p>
        </p:txBody>
      </p:sp>
      <p:sp>
        <p:nvSpPr>
          <p:cNvPr id="111" name="Google Shape;111;p18"/>
          <p:cNvSpPr txBox="1"/>
          <p:nvPr/>
        </p:nvSpPr>
        <p:spPr>
          <a:xfrm>
            <a:off x="6010175" y="930475"/>
            <a:ext cx="1713600" cy="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latin typeface="Roboto"/>
                <a:ea typeface="Roboto"/>
                <a:cs typeface="Roboto"/>
                <a:sym typeface="Roboto"/>
              </a:rPr>
              <a:t>Technologies:</a:t>
            </a:r>
            <a:endParaRPr sz="18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12" name="Google Shape;112;p18"/>
          <p:cNvSpPr txBox="1"/>
          <p:nvPr/>
        </p:nvSpPr>
        <p:spPr>
          <a:xfrm>
            <a:off x="5261475" y="1319575"/>
            <a:ext cx="3656700" cy="1011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oboto"/>
              <a:buChar char="●"/>
            </a:pPr>
            <a:r>
              <a:rPr lang="ru">
                <a:latin typeface="Roboto"/>
                <a:ea typeface="Roboto"/>
                <a:cs typeface="Roboto"/>
                <a:sym typeface="Roboto"/>
              </a:rPr>
              <a:t>Convolutional Neural Networks(CNN)</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ru">
                <a:latin typeface="Roboto"/>
                <a:ea typeface="Roboto"/>
                <a:cs typeface="Roboto"/>
                <a:sym typeface="Roboto"/>
              </a:rPr>
              <a:t>LSTM</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ru">
                <a:latin typeface="Roboto"/>
                <a:ea typeface="Roboto"/>
                <a:cs typeface="Roboto"/>
                <a:sym typeface="Roboto"/>
              </a:rPr>
              <a:t>Weak-Supervised Learning</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ru">
                <a:latin typeface="Roboto"/>
                <a:ea typeface="Roboto"/>
                <a:cs typeface="Roboto"/>
                <a:sym typeface="Roboto"/>
              </a:rPr>
              <a:t>Multi-Modal Learning</a:t>
            </a:r>
            <a:endParaRPr>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pic>
        <p:nvPicPr>
          <p:cNvPr id="117" name="Google Shape;117;p19"/>
          <p:cNvPicPr preferRelativeResize="0"/>
          <p:nvPr/>
        </p:nvPicPr>
        <p:blipFill rotWithShape="1">
          <a:blip r:embed="rId3">
            <a:alphaModFix/>
          </a:blip>
          <a:srcRect b="7813" l="0" r="0" t="7813"/>
          <a:stretch/>
        </p:blipFill>
        <p:spPr>
          <a:xfrm>
            <a:off x="1" y="0"/>
            <a:ext cx="9144001" cy="5143500"/>
          </a:xfrm>
          <a:prstGeom prst="rect">
            <a:avLst/>
          </a:prstGeom>
          <a:noFill/>
          <a:ln>
            <a:noFill/>
          </a:ln>
        </p:spPr>
      </p:pic>
      <p:sp>
        <p:nvSpPr>
          <p:cNvPr id="118" name="Google Shape;118;p19"/>
          <p:cNvSpPr/>
          <p:nvPr/>
        </p:nvSpPr>
        <p:spPr>
          <a:xfrm>
            <a:off x="0" y="2574400"/>
            <a:ext cx="4568400" cy="1714500"/>
          </a:xfrm>
          <a:prstGeom prst="rect">
            <a:avLst/>
          </a:prstGeom>
          <a:solidFill>
            <a:srgbClr val="FFFFFF">
              <a:alpha val="8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txBox="1"/>
          <p:nvPr>
            <p:ph type="title"/>
          </p:nvPr>
        </p:nvSpPr>
        <p:spPr>
          <a:xfrm>
            <a:off x="351600" y="2736850"/>
            <a:ext cx="3997500" cy="13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ru">
                <a:solidFill>
                  <a:srgbClr val="073763"/>
                </a:solidFill>
              </a:rPr>
              <a:t>THANKS FOR YOUR ATTENTION!</a:t>
            </a:r>
            <a:endParaRPr>
              <a:solidFill>
                <a:srgbClr val="07376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