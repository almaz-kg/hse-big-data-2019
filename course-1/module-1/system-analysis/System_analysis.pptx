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68" r:id="rId5"/>
    <p:sldId id="278" r:id="rId6"/>
    <p:sldId id="271" r:id="rId7"/>
    <p:sldId id="280" r:id="rId8"/>
    <p:sldId id="282" r:id="rId9"/>
    <p:sldId id="284" r:id="rId10"/>
    <p:sldId id="277" r:id="rId11"/>
    <p:sldId id="28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3E57"/>
    <a:srgbClr val="184259"/>
    <a:srgbClr val="9C4E4E"/>
    <a:srgbClr val="700000"/>
    <a:srgbClr val="5E2001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07" autoAdjust="0"/>
    <p:restoredTop sz="94652" autoAdjust="0"/>
  </p:normalViewPr>
  <p:slideViewPr>
    <p:cSldViewPr snapToGrid="0">
      <p:cViewPr varScale="1">
        <p:scale>
          <a:sx n="145" d="100"/>
          <a:sy n="145" d="100"/>
        </p:scale>
        <p:origin x="184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BF7510-B9ED-40E0-8274-4F64AD62B8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5E24B0-B97F-4932-93CD-4307D6181DC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AA17F-CB06-445B-ACD3-321E84E51A80}" type="datetimeFigureOut">
              <a:rPr lang="en-US" smtClean="0"/>
              <a:t>10/5/19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C3A0DF-A8A7-4EF4-96E5-757FFFC2A9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BEC987-E8F6-4FD2-BFB2-04815BD1D2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78EF9-7F2B-4B20-A25C-9E80C16977B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114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141C0-BF72-4A20-AFA7-D05563D549B7}" type="datetimeFigureOut">
              <a:rPr lang="en-US" smtClean="0"/>
              <a:t>10/5/19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AF9CF-D1E5-49FD-94F7-B246BB67E24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285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869601"/>
            <a:ext cx="10840914" cy="3921600"/>
          </a:xfrm>
        </p:spPr>
        <p:txBody>
          <a:bodyPr anchor="t" anchorCtr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28F7C25-BFB6-430F-87B6-7D0D2C749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2343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262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" y="1786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76500" y="2716272"/>
            <a:ext cx="8683625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6500" y="5137736"/>
            <a:ext cx="8683625" cy="73284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62937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2450" y="1874308"/>
            <a:ext cx="3814235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0" y="0"/>
            <a:ext cx="7543800" cy="6856214"/>
          </a:xfrm>
        </p:spPr>
        <p:txBody>
          <a:bodyPr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2450" y="3134308"/>
            <a:ext cx="3814235" cy="20166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06338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Description and Con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840914" cy="1260000"/>
          </a:xfrm>
        </p:spPr>
        <p:txBody>
          <a:bodyPr anchor="ctr" anchorCtr="0"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81824"/>
            <a:ext cx="10840914" cy="1032826"/>
          </a:xfrm>
        </p:spPr>
        <p:txBody>
          <a:bodyPr anchor="t" anchorCtr="0">
            <a:noAutofit/>
          </a:bodyPr>
          <a:lstStyle>
            <a:lvl1pPr marL="0" indent="0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47DAE59-9D63-4159-8F3E-560C31F19A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16192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249143D-80A5-4E4C-BBFD-F253500CE22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85799" y="2914650"/>
            <a:ext cx="10840914" cy="502126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B06123F0-984B-4EF8-9945-3621C401B7A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A669C074-A9BE-4B07-ACEE-3B34AAC8B9E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A40D78-D6DD-41A7-A132-9D48DF8649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A9CFAA7-850F-4C92-A9BE-56452E5CA0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3837470"/>
            <a:ext cx="1310050" cy="959003"/>
          </a:xfrm>
        </p:spPr>
        <p:txBody>
          <a:bodyPr>
            <a:noAutofit/>
          </a:bodyPr>
          <a:lstStyle>
            <a:lvl1pPr marL="0" indent="0" algn="ctr">
              <a:buNone/>
              <a:defRPr sz="1200"/>
            </a:lvl1pPr>
            <a:lvl3pPr algn="ctr">
              <a:defRPr sz="1200"/>
            </a:lvl3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C5A0CF1-9FE7-4149-97DC-522163914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-185517" y="1242483"/>
            <a:ext cx="504000" cy="0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363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6" y="995967"/>
            <a:ext cx="6238874" cy="1260000"/>
          </a:xfrm>
        </p:spPr>
        <p:txBody>
          <a:bodyPr anchor="ctr" anchorCtr="0">
            <a:noAutofit/>
          </a:bodyPr>
          <a:lstStyle>
            <a:lvl1pPr algn="r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8014200" y="995968"/>
            <a:ext cx="3492000" cy="4866064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5849" y="2255967"/>
            <a:ext cx="6610351" cy="3476618"/>
          </a:xfrm>
        </p:spPr>
        <p:txBody>
          <a:bodyPr anchor="t">
            <a:normAutofit/>
          </a:bodyPr>
          <a:lstStyle>
            <a:lvl1pPr marL="0" indent="0" algn="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6938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57974" y="995968"/>
            <a:ext cx="4848225" cy="1260000"/>
          </a:xfrm>
        </p:spPr>
        <p:txBody>
          <a:bodyPr anchor="ctr" anchorCtr="0">
            <a:normAutofit/>
          </a:bodyPr>
          <a:lstStyle>
            <a:lvl1pPr algn="l">
              <a:defRPr sz="3000" b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 bwMode="blackGray">
          <a:xfrm>
            <a:off x="727574" y="914400"/>
            <a:ext cx="5749425" cy="4818185"/>
          </a:xfrm>
          <a:prstGeom prst="roundRect">
            <a:avLst>
              <a:gd name="adj" fmla="val 2371"/>
            </a:avLst>
          </a:prstGeom>
          <a:solidFill>
            <a:schemeClr val="bg2">
              <a:lumMod val="75000"/>
              <a:lumOff val="25000"/>
            </a:schemeClr>
          </a:solidFill>
          <a:ln w="28575" cap="sq" cmpd="sng">
            <a:solidFill>
              <a:schemeClr val="accent3">
                <a:lumMod val="50000"/>
              </a:schemeClr>
            </a:solidFill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57974" y="2255968"/>
            <a:ext cx="4848225" cy="347661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295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 bwMode="white">
          <a:xfrm>
            <a:off x="10571243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 bwMode="white">
          <a:xfrm>
            <a:off x="100262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noProof="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20801" y="609601"/>
            <a:ext cx="9550399" cy="2743199"/>
          </a:xfrm>
        </p:spPr>
        <p:txBody>
          <a:bodyPr anchor="ctr">
            <a:normAutofit/>
          </a:bodyPr>
          <a:lstStyle>
            <a:lvl1pPr algn="ctr">
              <a:defRPr sz="3000" b="0" i="1" cap="none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26408" y="3352800"/>
            <a:ext cx="9339184" cy="3810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D7857E-8E0E-4AC1-ABDC-E42462C788DE}"/>
              </a:ext>
            </a:extLst>
          </p:cNvPr>
          <p:cNvSpPr/>
          <p:nvPr userDrawn="1"/>
        </p:nvSpPr>
        <p:spPr>
          <a:xfrm>
            <a:off x="1750844" y="3962401"/>
            <a:ext cx="8690313" cy="1908173"/>
          </a:xfrm>
          <a:prstGeom prst="roundRect">
            <a:avLst>
              <a:gd name="adj" fmla="val 6552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57375" y="4021138"/>
            <a:ext cx="8486775" cy="176053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53409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>
            <a:extLst>
              <a:ext uri="{FF2B5EF4-FFF2-40B4-BE49-F238E27FC236}">
                <a16:creationId xmlns:a16="http://schemas.microsoft.com/office/drawing/2014/main" id="{A1E35E73-B2F7-41DF-AAD2-58E6BE2710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599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1869599"/>
            <a:ext cx="5202071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70201"/>
            <a:ext cx="5202071" cy="2916000"/>
          </a:xfrm>
          <a:prstGeom prst="roundRect">
            <a:avLst>
              <a:gd name="adj" fmla="val 2496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8270" y="1869599"/>
            <a:ext cx="5228444" cy="91622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8270" y="2870201"/>
            <a:ext cx="5202071" cy="2916000"/>
          </a:xfrm>
          <a:prstGeom prst="roundRect">
            <a:avLst>
              <a:gd name="adj" fmla="val 2798"/>
            </a:avLst>
          </a:prstGeom>
          <a:ln w="28575">
            <a:solidFill>
              <a:schemeClr val="accent3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t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31B0A9-3E16-4C5B-A6CE-045BCB91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3976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96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4449DE-635B-4B23-9B8B-C95A5B8764DB}"/>
              </a:ext>
            </a:extLst>
          </p:cNvPr>
          <p:cNvSpPr/>
          <p:nvPr userDrawn="1"/>
        </p:nvSpPr>
        <p:spPr>
          <a:xfrm>
            <a:off x="663356" y="1790228"/>
            <a:ext cx="10863358" cy="4080348"/>
          </a:xfrm>
          <a:prstGeom prst="roundRect">
            <a:avLst>
              <a:gd name="adj" fmla="val 2634"/>
            </a:avLst>
          </a:prstGeom>
          <a:solidFill>
            <a:schemeClr val="accent3"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1869600"/>
            <a:ext cx="5040000" cy="3921601"/>
          </a:xfrm>
          <a:prstGeom prst="roundRect">
            <a:avLst>
              <a:gd name="adj" fmla="val 1970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8644" y="1869601"/>
            <a:ext cx="5040000" cy="3921600"/>
          </a:xfrm>
          <a:prstGeom prst="roundRect">
            <a:avLst>
              <a:gd name="adj" fmla="val 2211"/>
            </a:avLst>
          </a:prstGeom>
          <a:ln w="28575">
            <a:noFill/>
          </a:ln>
          <a:effectLst/>
        </p:spPr>
        <p:txBody>
          <a:bodyPr anchor="t" anchorCtr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539E0A-8009-4A6E-A7A1-5AEFA5220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7150" y="996911"/>
            <a:ext cx="3666" cy="491143"/>
          </a:xfrm>
          <a:prstGeom prst="line">
            <a:avLst/>
          </a:prstGeom>
          <a:ln w="127000" cap="sq">
            <a:solidFill>
              <a:schemeClr val="accent3"/>
            </a:solidFill>
            <a:miter lim="800000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352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1" y="609601"/>
            <a:ext cx="10840913" cy="3124199"/>
          </a:xfrm>
        </p:spPr>
        <p:txBody>
          <a:bodyPr anchor="ctr">
            <a:normAutofit/>
          </a:bodyPr>
          <a:lstStyle>
            <a:lvl1pPr algn="l">
              <a:defRPr sz="3000" b="0" cap="none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3733800"/>
            <a:ext cx="10840914" cy="20574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3326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840914" cy="126000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106499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53706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Gray">
      <p:bgPr>
        <a:gradFill flip="none" rotWithShape="1">
          <a:gsLst>
            <a:gs pos="0">
              <a:schemeClr val="accent3">
                <a:lumMod val="89000"/>
              </a:schemeClr>
            </a:gs>
            <a:gs pos="23000">
              <a:schemeClr val="accent3">
                <a:lumMod val="89000"/>
              </a:schemeClr>
            </a:gs>
            <a:gs pos="69000">
              <a:schemeClr val="accent3">
                <a:lumMod val="75000"/>
              </a:schemeClr>
            </a:gs>
            <a:gs pos="97000">
              <a:schemeClr val="accent3">
                <a:lumMod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white">
          <a:xfrm>
            <a:off x="685801" y="609600"/>
            <a:ext cx="10840914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white">
          <a:xfrm>
            <a:off x="685801" y="2142067"/>
            <a:ext cx="10840914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984B7D2A-0DF8-424B-9572-B79AEBB2D9DC}" type="datetimeFigureOut">
              <a:rPr lang="en-US" noProof="0" smtClean="0"/>
              <a:t>10/5/19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59" y="5870575"/>
            <a:ext cx="1260655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D99DD2A-B520-4620-9B43-64B657BA2D4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090699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8" r:id="rId3"/>
    <p:sldLayoutId id="2147483679" r:id="rId4"/>
    <p:sldLayoutId id="2147483669" r:id="rId5"/>
    <p:sldLayoutId id="2147483680" r:id="rId6"/>
    <p:sldLayoutId id="2147483672" r:id="rId7"/>
    <p:sldLayoutId id="2147483665" r:id="rId8"/>
    <p:sldLayoutId id="2147483664" r:id="rId9"/>
    <p:sldLayoutId id="2147483671" r:id="rId10"/>
    <p:sldLayoutId id="2147483666" r:id="rId11"/>
    <p:sldLayoutId id="2147483667" r:id="rId12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knowledge.allbest.ru/philosophy/3c0b65635a2bd69a4c43a89421216c27_0.html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player.com/slide/3890269/" TargetMode="External"/><Relationship Id="rId2" Type="http://schemas.openxmlformats.org/officeDocument/2006/relationships/hyperlink" Target="https://www.grounded.systems/2014/04/hard-systems-and-soft-systems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gtmarket.ru/concepts/711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pillar icon">
            <a:extLst>
              <a:ext uri="{FF2B5EF4-FFF2-40B4-BE49-F238E27FC236}">
                <a16:creationId xmlns:a16="http://schemas.microsoft.com/office/drawing/2014/main" id="{FC7E2CCC-C53E-454B-9DE0-F2484BA0F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9377464" y="1523999"/>
            <a:ext cx="2105241" cy="2153055"/>
          </a:xfrm>
          <a:prstGeom prst="rect">
            <a:avLst/>
          </a:prstGeom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35B398-1E7F-44AD-8356-8345134C95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SYSTEM ANALYSIS AND APPROACHES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7E76044-D1E1-1045-8EF5-6AF65349765A}"/>
              </a:ext>
            </a:extLst>
          </p:cNvPr>
          <p:cNvSpPr txBox="1"/>
          <p:nvPr/>
        </p:nvSpPr>
        <p:spPr>
          <a:xfrm>
            <a:off x="4967712" y="5960677"/>
            <a:ext cx="254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MURZABEKOV ALMAZ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00DFB8-9C4E-C943-8F13-092CC0FD5D24}"/>
              </a:ext>
            </a:extLst>
          </p:cNvPr>
          <p:cNvSpPr txBox="1"/>
          <p:nvPr/>
        </p:nvSpPr>
        <p:spPr>
          <a:xfrm>
            <a:off x="9464367" y="5960677"/>
            <a:ext cx="1534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pple Braille" pitchFamily="2" charset="0"/>
              </a:rPr>
              <a:t>HSE, 10.2019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52749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129C58-0191-0D49-BDAB-5EE898A552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SYSTEM ANALYSIS?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3F27A-0346-B14D-BA4E-598E305D3212}"/>
              </a:ext>
            </a:extLst>
          </p:cNvPr>
          <p:cNvSpPr txBox="1"/>
          <p:nvPr/>
        </p:nvSpPr>
        <p:spPr>
          <a:xfrm>
            <a:off x="1264024" y="1869600"/>
            <a:ext cx="77006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System analysis is a scientific and methodological discipline that studies the 	principles, methods and means of studying complex objects by presenting 	them as systems and analyzing these systems.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7646FA-2EF4-E049-B9AF-3DED153EE602}"/>
              </a:ext>
            </a:extLst>
          </p:cNvPr>
          <p:cNvSpPr txBox="1"/>
          <p:nvPr/>
        </p:nvSpPr>
        <p:spPr>
          <a:xfrm>
            <a:off x="1264024" y="2944934"/>
            <a:ext cx="83299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System analysis is the process of studying a procedure or </a:t>
            </a:r>
            <a:r>
              <a:rPr lang="en-US" dirty="0"/>
              <a:t>business </a:t>
            </a:r>
            <a:r>
              <a:rPr lang="en-CA" dirty="0"/>
              <a:t>in order to identify </a:t>
            </a:r>
          </a:p>
          <a:p>
            <a:r>
              <a:rPr lang="en-CA" dirty="0"/>
              <a:t>	its goals and purposes and create systems and procedures that will achieve them </a:t>
            </a:r>
          </a:p>
          <a:p>
            <a:r>
              <a:rPr lang="en-CA" dirty="0"/>
              <a:t>	in an efficient way".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A982E3-4909-434C-92EA-17F2ABD3973C}"/>
              </a:ext>
            </a:extLst>
          </p:cNvPr>
          <p:cNvSpPr txBox="1"/>
          <p:nvPr/>
        </p:nvSpPr>
        <p:spPr>
          <a:xfrm>
            <a:off x="1264024" y="4822929"/>
            <a:ext cx="84385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The field of system analysis relates to requirements analysis or to operations research 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3D952F-FF5C-BD4E-9D9E-4DDC89C5D1FF}"/>
              </a:ext>
            </a:extLst>
          </p:cNvPr>
          <p:cNvSpPr txBox="1"/>
          <p:nvPr/>
        </p:nvSpPr>
        <p:spPr>
          <a:xfrm>
            <a:off x="1264024" y="3960597"/>
            <a:ext cx="86869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System analysis is a process of collecting and interpreting facts, identifying the problems, </a:t>
            </a:r>
          </a:p>
          <a:p>
            <a:r>
              <a:rPr lang="en-CA" dirty="0"/>
              <a:t>	and decomposition of a system into its components.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955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C826E-72DB-45B4-B092-DA86DA68C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BRIEF HISTORY OF SYSTEM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35431-5E3F-4C1A-BED1-C5BC3D661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543" y="1788815"/>
            <a:ext cx="10840914" cy="1942499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CA" dirty="0"/>
              <a:t>The emergence of philosophical and practical ideas about systems analysis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en-CA" dirty="0"/>
              <a:t>The first rise of the idea of ​​a systems approach in ancient Greece (in the space sciences)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en-CA" dirty="0"/>
              <a:t>Theorization of system analysis ideas, the formation of the first theories </a:t>
            </a:r>
          </a:p>
          <a:p>
            <a:pPr marL="285750" indent="-285750">
              <a:buFontTx/>
              <a:buChar char="-"/>
            </a:pPr>
            <a:r>
              <a:rPr lang="en-CA" dirty="0"/>
              <a:t>The emergence of systems analysis, the spread of a systems approach to all areas of science</a:t>
            </a:r>
          </a:p>
          <a:p>
            <a:pPr marL="285750" indent="-285750">
              <a:buFontTx/>
              <a:buChar char="-"/>
            </a:pPr>
            <a:r>
              <a:rPr lang="en-US" dirty="0"/>
              <a:t>Modern system analysis</a:t>
            </a:r>
            <a:endParaRPr lang="ru-RU" dirty="0"/>
          </a:p>
          <a:p>
            <a:pPr marL="285750" indent="-285750">
              <a:buFontTx/>
              <a:buChar char="-"/>
            </a:pPr>
            <a:endParaRPr lang="ru-RU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E9D7F99C-4A63-4AF2-8DFC-783C463444F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08611" y="4258813"/>
            <a:ext cx="1548383" cy="95900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dirty="0"/>
              <a:t>[2500 BC- 2000 BC]</a:t>
            </a:r>
          </a:p>
          <a:p>
            <a:pPr>
              <a:spcAft>
                <a:spcPts val="0"/>
              </a:spcAft>
            </a:pPr>
            <a:r>
              <a:rPr lang="en-US" dirty="0"/>
              <a:t>Term ”System”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EF458CD-7F65-4446-8840-6E8C9C68317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65366" y="4258813"/>
            <a:ext cx="1310050" cy="95900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dirty="0"/>
              <a:t>[XX century]</a:t>
            </a:r>
          </a:p>
          <a:p>
            <a:pPr>
              <a:spcAft>
                <a:spcPts val="0"/>
              </a:spcAft>
            </a:pPr>
            <a:r>
              <a:rPr lang="en-US" dirty="0"/>
              <a:t>Second rise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E14C2379-D648-4FA4-892B-A031C8CF38F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48424" y="4258813"/>
            <a:ext cx="1310050" cy="95900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dirty="0"/>
              <a:t>[NOW]</a:t>
            </a:r>
          </a:p>
          <a:p>
            <a:pPr>
              <a:spcAft>
                <a:spcPts val="0"/>
              </a:spcAft>
            </a:pPr>
            <a:r>
              <a:rPr lang="en-US" dirty="0"/>
              <a:t>Modern System Analysis</a:t>
            </a:r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181BCB65-05D6-4968-A705-E5461BD4B7E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82308" y="4258813"/>
            <a:ext cx="1310050" cy="95900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dirty="0"/>
              <a:t>[1735-1876]</a:t>
            </a:r>
          </a:p>
          <a:p>
            <a:pPr>
              <a:spcAft>
                <a:spcPts val="0"/>
              </a:spcAft>
            </a:pPr>
            <a:r>
              <a:rPr lang="en-CA" dirty="0"/>
              <a:t>André Ampère</a:t>
            </a:r>
            <a:endParaRPr lang="en-US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11214B34-DA9D-4C1E-8508-23F492C5399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99250" y="4258813"/>
            <a:ext cx="1310050" cy="959003"/>
          </a:xfrm>
        </p:spPr>
        <p:txBody>
          <a:bodyPr/>
          <a:lstStyle/>
          <a:p>
            <a:pPr>
              <a:spcAft>
                <a:spcPts val="0"/>
              </a:spcAft>
            </a:pPr>
            <a:r>
              <a:rPr lang="en-US" dirty="0"/>
              <a:t>[90BC – 160AD]</a:t>
            </a:r>
          </a:p>
          <a:p>
            <a:pPr>
              <a:spcAft>
                <a:spcPts val="0"/>
              </a:spcAft>
            </a:pPr>
            <a:r>
              <a:rPr lang="en-US" dirty="0"/>
              <a:t>First rise in Ancient Greece</a:t>
            </a:r>
          </a:p>
        </p:txBody>
      </p:sp>
      <p:sp>
        <p:nvSpPr>
          <p:cNvPr id="13" name="Oval 11" descr="decorative element">
            <a:extLst>
              <a:ext uri="{FF2B5EF4-FFF2-40B4-BE49-F238E27FC236}">
                <a16:creationId xmlns:a16="http://schemas.microsoft.com/office/drawing/2014/main" id="{D62D13F9-C589-486F-8D76-6D51992A2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449" y="5087035"/>
            <a:ext cx="288000" cy="288000"/>
          </a:xfrm>
          <a:prstGeom prst="ellipse">
            <a:avLst/>
          </a:prstGeom>
          <a:solidFill>
            <a:schemeClr val="bg1">
              <a:lumMod val="50000"/>
              <a:lumOff val="50000"/>
            </a:schemeClr>
          </a:solidFill>
          <a:ln w="15875">
            <a:solidFill>
              <a:schemeClr val="bg2">
                <a:lumMod val="50000"/>
                <a:lumOff val="50000"/>
              </a:schemeClr>
            </a:solidFill>
          </a:ln>
          <a:effectLst>
            <a:glow rad="101600">
              <a:schemeClr val="bg2">
                <a:lumMod val="75000"/>
                <a:lumOff val="25000"/>
                <a:alpha val="60000"/>
              </a:schemeClr>
            </a:glow>
          </a:effec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0" name="Rectangle 7" descr="timeline">
            <a:extLst>
              <a:ext uri="{FF2B5EF4-FFF2-40B4-BE49-F238E27FC236}">
                <a16:creationId xmlns:a16="http://schemas.microsoft.com/office/drawing/2014/main" id="{2B8D0290-68FF-400B-B201-1F38FEE760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4000" y="5218797"/>
            <a:ext cx="8424000" cy="20638"/>
          </a:xfrm>
          <a:prstGeom prst="rect">
            <a:avLst/>
          </a:prstGeom>
          <a:solidFill>
            <a:schemeClr val="tx1">
              <a:lumMod val="5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F08ECA-E548-5F4D-8240-D5385D67FFBF}"/>
              </a:ext>
            </a:extLst>
          </p:cNvPr>
          <p:cNvSpPr txBox="1"/>
          <p:nvPr/>
        </p:nvSpPr>
        <p:spPr>
          <a:xfrm>
            <a:off x="1216192" y="5879066"/>
            <a:ext cx="65659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[1] </a:t>
            </a:r>
            <a:r>
              <a:rPr lang="ru-RU" dirty="0"/>
              <a:t>Теория систем и системный анализ. - М.: </a:t>
            </a:r>
            <a:r>
              <a:rPr lang="ru-RU" dirty="0" err="1"/>
              <a:t>Юрайт</a:t>
            </a:r>
            <a:r>
              <a:rPr lang="ru-RU" dirty="0"/>
              <a:t>, 2013. - 624 с.</a:t>
            </a:r>
            <a:endParaRPr lang="en-US" dirty="0"/>
          </a:p>
          <a:p>
            <a:r>
              <a:rPr lang="en-US" dirty="0"/>
              <a:t>[2] </a:t>
            </a:r>
            <a:r>
              <a:rPr lang="ru-RU" dirty="0"/>
              <a:t>История развития системного анализа</a:t>
            </a:r>
            <a:r>
              <a:rPr lang="en-US" dirty="0"/>
              <a:t> – </a:t>
            </a:r>
            <a:r>
              <a:rPr lang="en-CA" dirty="0">
                <a:hlinkClick r:id="rId2"/>
              </a:rPr>
              <a:t>Internet link</a:t>
            </a:r>
            <a:endParaRPr lang="ru-RU" dirty="0"/>
          </a:p>
        </p:txBody>
      </p:sp>
      <p:sp>
        <p:nvSpPr>
          <p:cNvPr id="17" name="Oval 270" descr="decorative element">
            <a:extLst>
              <a:ext uri="{FF2B5EF4-FFF2-40B4-BE49-F238E27FC236}">
                <a16:creationId xmlns:a16="http://schemas.microsoft.com/office/drawing/2014/main" id="{A8F4EDB0-C386-4CCF-B742-D9788F7B7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8741" y="5092797"/>
            <a:ext cx="252000" cy="252000"/>
          </a:xfrm>
          <a:prstGeom prst="ellipse">
            <a:avLst/>
          </a:prstGeom>
          <a:solidFill>
            <a:srgbClr val="FFC000"/>
          </a:solidFill>
          <a:ln>
            <a:solidFill>
              <a:schemeClr val="bg2">
                <a:lumMod val="75000"/>
                <a:lumOff val="25000"/>
              </a:schemeClr>
            </a:solidFill>
          </a:ln>
          <a:effectLst>
            <a:glow rad="63500">
              <a:schemeClr val="bg2">
                <a:lumMod val="75000"/>
                <a:lumOff val="25000"/>
                <a:alpha val="40000"/>
              </a:schemeClr>
            </a:glow>
          </a:effec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1" name="Oval 9" descr="decorative element">
            <a:extLst>
              <a:ext uri="{FF2B5EF4-FFF2-40B4-BE49-F238E27FC236}">
                <a16:creationId xmlns:a16="http://schemas.microsoft.com/office/drawing/2014/main" id="{6A7147D9-5182-4F63-A1F6-2C7F380BC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1580" y="5092797"/>
            <a:ext cx="252000" cy="252000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2">
                <a:lumMod val="75000"/>
                <a:lumOff val="25000"/>
              </a:schemeClr>
            </a:solidFill>
          </a:ln>
          <a:effectLst>
            <a:glow rad="63500">
              <a:schemeClr val="bg2">
                <a:lumMod val="75000"/>
                <a:lumOff val="25000"/>
                <a:alpha val="40000"/>
              </a:schemeClr>
            </a:glow>
          </a:effec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highlight>
                <a:srgbClr val="FF0000"/>
              </a:highlight>
              <a:latin typeface="+mj-lt"/>
            </a:endParaRPr>
          </a:p>
        </p:txBody>
      </p:sp>
      <p:sp>
        <p:nvSpPr>
          <p:cNvPr id="16" name="Oval 19" descr="decorative element">
            <a:extLst>
              <a:ext uri="{FF2B5EF4-FFF2-40B4-BE49-F238E27FC236}">
                <a16:creationId xmlns:a16="http://schemas.microsoft.com/office/drawing/2014/main" id="{E8029F86-BAEB-4FB6-9968-621202C1E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8702" y="5093591"/>
            <a:ext cx="252000" cy="252000"/>
          </a:xfrm>
          <a:prstGeom prst="ellipse">
            <a:avLst/>
          </a:prstGeom>
          <a:solidFill>
            <a:srgbClr val="FFC000"/>
          </a:solidFill>
          <a:ln>
            <a:solidFill>
              <a:schemeClr val="bg2">
                <a:lumMod val="75000"/>
                <a:lumOff val="25000"/>
              </a:schemeClr>
            </a:solidFill>
          </a:ln>
          <a:effectLst>
            <a:glow rad="63500">
              <a:schemeClr val="bg2">
                <a:lumMod val="75000"/>
                <a:lumOff val="25000"/>
                <a:alpha val="40000"/>
              </a:schemeClr>
            </a:glow>
          </a:effec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15" name="Oval 14" descr="decorative element">
            <a:extLst>
              <a:ext uri="{FF2B5EF4-FFF2-40B4-BE49-F238E27FC236}">
                <a16:creationId xmlns:a16="http://schemas.microsoft.com/office/drawing/2014/main" id="{3184FF17-95E1-488F-85D0-829B663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9549" y="5092797"/>
            <a:ext cx="252000" cy="252000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  <a:effectLst>
            <a:glow rad="63500">
              <a:schemeClr val="bg2">
                <a:lumMod val="75000"/>
                <a:lumOff val="25000"/>
                <a:alpha val="40000"/>
              </a:schemeClr>
            </a:glow>
          </a:effec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  <p:sp>
        <p:nvSpPr>
          <p:cNvPr id="21" name="Oval 9" descr="decorative element">
            <a:extLst>
              <a:ext uri="{FF2B5EF4-FFF2-40B4-BE49-F238E27FC236}">
                <a16:creationId xmlns:a16="http://schemas.microsoft.com/office/drawing/2014/main" id="{62531685-BB24-1F49-BAE0-7AD8B5C157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773" y="5985489"/>
            <a:ext cx="144419" cy="156485"/>
          </a:xfrm>
          <a:prstGeom prst="ellipse">
            <a:avLst/>
          </a:prstGeom>
          <a:solidFill>
            <a:srgbClr val="FFC000"/>
          </a:solidFill>
          <a:ln w="9525">
            <a:solidFill>
              <a:schemeClr val="bg2">
                <a:lumMod val="75000"/>
                <a:lumOff val="25000"/>
              </a:schemeClr>
            </a:solidFill>
          </a:ln>
          <a:effectLst>
            <a:glow rad="63500">
              <a:schemeClr val="bg2">
                <a:lumMod val="75000"/>
                <a:lumOff val="25000"/>
                <a:alpha val="40000"/>
              </a:schemeClr>
            </a:glow>
          </a:effec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highlight>
                <a:srgbClr val="FF0000"/>
              </a:highlight>
              <a:latin typeface="+mj-lt"/>
            </a:endParaRPr>
          </a:p>
        </p:txBody>
      </p:sp>
      <p:sp>
        <p:nvSpPr>
          <p:cNvPr id="22" name="Oval 21" descr="decorative element">
            <a:extLst>
              <a:ext uri="{FF2B5EF4-FFF2-40B4-BE49-F238E27FC236}">
                <a16:creationId xmlns:a16="http://schemas.microsoft.com/office/drawing/2014/main" id="{49938295-0420-3941-BB97-121E1E8B2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237" y="6282338"/>
            <a:ext cx="144419" cy="156485"/>
          </a:xfrm>
          <a:prstGeom prst="ellipse">
            <a:avLst/>
          </a:prstGeom>
          <a:solidFill>
            <a:schemeClr val="bg1">
              <a:lumMod val="65000"/>
              <a:lumOff val="35000"/>
            </a:schemeClr>
          </a:solidFill>
          <a:ln>
            <a:solidFill>
              <a:schemeClr val="bg2">
                <a:lumMod val="75000"/>
                <a:lumOff val="25000"/>
              </a:schemeClr>
            </a:solidFill>
          </a:ln>
          <a:effectLst>
            <a:glow rad="63500">
              <a:schemeClr val="bg2">
                <a:lumMod val="75000"/>
                <a:lumOff val="25000"/>
                <a:alpha val="40000"/>
              </a:schemeClr>
            </a:glow>
          </a:effectLst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370410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BEF7D-66F1-464F-9C8D-E8EBD9F76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 vs SOFT SYSTEM APPROACHES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6763D8-2DF3-A74F-B65E-85F9618C28BF}"/>
              </a:ext>
            </a:extLst>
          </p:cNvPr>
          <p:cNvSpPr txBox="1"/>
          <p:nvPr/>
        </p:nvSpPr>
        <p:spPr>
          <a:xfrm>
            <a:off x="869577" y="1869600"/>
            <a:ext cx="3441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Soft systems approaches assume: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EB9BAF-1B16-9941-BC36-DAF5BF352EFA}"/>
              </a:ext>
            </a:extLst>
          </p:cNvPr>
          <p:cNvSpPr txBox="1"/>
          <p:nvPr/>
        </p:nvSpPr>
        <p:spPr>
          <a:xfrm>
            <a:off x="1398494" y="2238932"/>
            <a:ext cx="760657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organisational problems are ‘messy’ or poorly defined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stakeholders interpret problems differently (no objective reality)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human factors important – creative, intuitive approach to problem-solving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D3F0D6-4B01-4140-8091-318E89062310}"/>
              </a:ext>
            </a:extLst>
          </p:cNvPr>
          <p:cNvSpPr txBox="1"/>
          <p:nvPr/>
        </p:nvSpPr>
        <p:spPr>
          <a:xfrm>
            <a:off x="869577" y="3314266"/>
            <a:ext cx="35060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Hard systems approaches assume: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9BDF7F-DD10-C14B-A778-E09A949D5B03}"/>
              </a:ext>
            </a:extLst>
          </p:cNvPr>
          <p:cNvSpPr txBox="1"/>
          <p:nvPr/>
        </p:nvSpPr>
        <p:spPr>
          <a:xfrm>
            <a:off x="1398494" y="3825345"/>
            <a:ext cx="41921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Well-defined problem to be solved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Technical factors foremost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Scientific approach to problem-solving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An ideal solution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53A89-DE31-454E-B8FF-C1C21F9C4515}"/>
              </a:ext>
            </a:extLst>
          </p:cNvPr>
          <p:cNvSpPr txBox="1"/>
          <p:nvPr/>
        </p:nvSpPr>
        <p:spPr>
          <a:xfrm>
            <a:off x="876886" y="5208413"/>
            <a:ext cx="104951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HARD systems - rigid techniques and procedures to provide unambiguous solutions to well-defined data and </a:t>
            </a:r>
          </a:p>
          <a:p>
            <a:r>
              <a:rPr lang="en-CA" dirty="0"/>
              <a:t>	processing problems, focused on computer implementations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116BA5-65CD-E34B-9CDB-033ACD6770A0}"/>
              </a:ext>
            </a:extLst>
          </p:cNvPr>
          <p:cNvSpPr txBox="1"/>
          <p:nvPr/>
        </p:nvSpPr>
        <p:spPr>
          <a:xfrm>
            <a:off x="869577" y="5937092"/>
            <a:ext cx="10289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SOFT systems - a framework of tools to be used at the discretion of the analyst, focused on improvements </a:t>
            </a:r>
          </a:p>
          <a:p>
            <a:r>
              <a:rPr lang="en-CA" dirty="0"/>
              <a:t>	to organisational problems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87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4516738-1B63-8346-B042-11E0919D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ANALYSIS TECHNIQUES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4068B5-6B92-BB47-B7CD-22CA79469CFE}"/>
              </a:ext>
            </a:extLst>
          </p:cNvPr>
          <p:cNvSpPr txBox="1"/>
          <p:nvPr/>
        </p:nvSpPr>
        <p:spPr>
          <a:xfrm>
            <a:off x="1004047" y="2052918"/>
            <a:ext cx="9741769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Logical data modeling</a:t>
            </a:r>
          </a:p>
          <a:p>
            <a:pPr lvl="1"/>
            <a:r>
              <a:rPr lang="en-US" dirty="0"/>
              <a:t>This is the process of identifying, modeling and documenting the data requirements of the </a:t>
            </a:r>
          </a:p>
          <a:p>
            <a:pPr lvl="1"/>
            <a:r>
              <a:rPr lang="en-US" dirty="0"/>
              <a:t>	system being designed. The data are separated into entities and relationships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Flow modeling</a:t>
            </a:r>
          </a:p>
          <a:p>
            <a:pPr lvl="1"/>
            <a:r>
              <a:rPr lang="en-US" dirty="0"/>
              <a:t>This is the process of identifying, modeling and documenting how data moves around an </a:t>
            </a:r>
          </a:p>
          <a:p>
            <a:pPr lvl="1"/>
            <a:r>
              <a:rPr lang="en-US" dirty="0"/>
              <a:t>	information system. Data Flow Modeling examines processes, data stores, external entities</a:t>
            </a:r>
          </a:p>
          <a:p>
            <a:pPr lvl="1"/>
            <a:r>
              <a:rPr lang="en-US" dirty="0"/>
              <a:t>	and data flows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Entity behavior modeling</a:t>
            </a:r>
          </a:p>
          <a:p>
            <a:pPr lvl="1"/>
            <a:r>
              <a:rPr lang="en-US" dirty="0"/>
              <a:t>This is the process of identifying, modeling and documenting the events that affect each entity </a:t>
            </a:r>
          </a:p>
          <a:p>
            <a:pPr lvl="1"/>
            <a:r>
              <a:rPr lang="en-US" dirty="0"/>
              <a:t>	and the sequence in which these events occur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Other techniques	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14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68E3-1680-2B49-A4E4-E37C89601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EXPERIENCE IN SYSTEM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7D3EAA-17B4-0045-85F7-339975EBA3A6}"/>
              </a:ext>
            </a:extLst>
          </p:cNvPr>
          <p:cNvSpPr txBox="1"/>
          <p:nvPr/>
        </p:nvSpPr>
        <p:spPr>
          <a:xfrm>
            <a:off x="685800" y="2520230"/>
            <a:ext cx="505686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Sberbank project:  ”Credit for 7 minutes”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Platform for data scientists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Graph data structures and algorithms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Communication with stakeholders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MVPs and researches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Integrations with Social Networks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Different types of modeling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773336-5A34-DF45-9AC7-1CBE4E788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664" y="1869600"/>
            <a:ext cx="5973709" cy="4423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04385E0-2AE1-BF4C-8715-38902FC58E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24" y="1815820"/>
            <a:ext cx="2547813" cy="477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482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3303B-7655-1C4A-86BD-FAF8FDE8B4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21324" y="2882136"/>
            <a:ext cx="8683625" cy="1093728"/>
          </a:xfrm>
        </p:spPr>
        <p:txBody>
          <a:bodyPr/>
          <a:lstStyle/>
          <a:p>
            <a:pPr algn="ctr"/>
            <a:r>
              <a:rPr lang="en-US" dirty="0"/>
              <a:t>THANK  YOU!</a:t>
            </a:r>
          </a:p>
        </p:txBody>
      </p:sp>
    </p:spTree>
    <p:extLst>
      <p:ext uri="{BB962C8B-B14F-4D97-AF65-F5344CB8AC3E}">
        <p14:creationId xmlns:p14="http://schemas.microsoft.com/office/powerpoint/2010/main" val="2704634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3A55FE1-30DE-C344-9BA4-CF0C30953A9B}"/>
              </a:ext>
            </a:extLst>
          </p:cNvPr>
          <p:cNvSpPr txBox="1"/>
          <p:nvPr/>
        </p:nvSpPr>
        <p:spPr>
          <a:xfrm>
            <a:off x="1210235" y="1757082"/>
            <a:ext cx="744498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u="sng" dirty="0"/>
              <a:t>REFERENCES:</a:t>
            </a:r>
          </a:p>
          <a:p>
            <a:endParaRPr lang="en-CA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«Теория систем и системный анализ»</a:t>
            </a:r>
            <a:r>
              <a:rPr lang="en-US" dirty="0"/>
              <a:t> </a:t>
            </a:r>
            <a:r>
              <a:rPr lang="ru-RU" dirty="0"/>
              <a:t>Ю. П. </a:t>
            </a:r>
            <a:r>
              <a:rPr lang="ru-RU" dirty="0" err="1"/>
              <a:t>Сурмин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http://www.cs.stir.ac.uk/~dec/teaching/CSC9T4/lectures/HardSys.pdf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hlinkClick r:id="rId2"/>
              </a:rPr>
              <a:t>https://www.grounded.systems/2014/04/hard-systems-and-soft-systems/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hlinkClick r:id="rId3"/>
              </a:rPr>
              <a:t>https://slideplayer.com/slide/3890269/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hlinkClick r:id="rId4"/>
              </a:rPr>
              <a:t>https://gtmarket.ru/concepts/7111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18408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F22736411_Famous event in history presentation_AAS_v4" id="{885A6F1E-651B-4F15-A7C5-F8866BEBEDBA}" vid="{A424914B-CB64-4CFE-A131-6ACB64D36A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C94942-C689-461B-8649-1FD863C6BA2B}">
  <ds:schemaRefs>
    <ds:schemaRef ds:uri="http://schemas.microsoft.com/office/2006/documentManagement/types"/>
    <ds:schemaRef ds:uri="16c05727-aa75-4e4a-9b5f-8a80a1165891"/>
    <ds:schemaRef ds:uri="http://schemas.microsoft.com/office/infopath/2007/PartnerControls"/>
    <ds:schemaRef ds:uri="http://purl.org/dc/elements/1.1/"/>
    <ds:schemaRef ds:uri="http://schemas.microsoft.com/office/2006/metadata/properties"/>
    <ds:schemaRef ds:uri="71af3243-3dd4-4a8d-8c0d-dd76da1f02a5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C25A74-1E0C-4362-AFA3-6197BD285F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96277B9-27DA-47CA-9593-62E4BB44AB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369</Words>
  <Application>Microsoft Macintosh PowerPoint</Application>
  <PresentationFormat>Widescreen</PresentationFormat>
  <Paragraphs>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Apple Braille</vt:lpstr>
      <vt:lpstr>Arial</vt:lpstr>
      <vt:lpstr>Calibri</vt:lpstr>
      <vt:lpstr>Corbel</vt:lpstr>
      <vt:lpstr>Celestial</vt:lpstr>
      <vt:lpstr>SYSTEM ANALYSIS AND APPROACHES</vt:lpstr>
      <vt:lpstr>WHAT IS THE SYSTEM ANALYSIS? </vt:lpstr>
      <vt:lpstr>BRIEF HISTORY OF SYSTEM ANALYSIS</vt:lpstr>
      <vt:lpstr>HARD vs SOFT SYSTEM APPROACHES</vt:lpstr>
      <vt:lpstr>SYSTEM ANALYSIS TECHNIQUES</vt:lpstr>
      <vt:lpstr>MY EXPERIENCE IN SYSTEM ANALYSIS</vt:lpstr>
      <vt:lpstr>THANK  YOU!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2019-10-04T09:11:38Z</dcterms:created>
  <dcterms:modified xsi:type="dcterms:W3CDTF">2019-10-05T07:49:41Z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