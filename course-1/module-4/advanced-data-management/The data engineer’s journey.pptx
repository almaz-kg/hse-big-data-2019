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embeddedFontLst>
    <p:embeddedFont>
      <p:font typeface="Average"/>
      <p:regular r:id="rId26"/>
    </p:embeddedFont>
    <p:embeddedFont>
      <p:font typeface="Oswald"/>
      <p:regular r:id="rId27"/>
      <p:bold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Average-regular.fntdata"/><Relationship Id="rId25" Type="http://schemas.openxmlformats.org/officeDocument/2006/relationships/slide" Target="slides/slide20.xml"/><Relationship Id="rId28" Type="http://schemas.openxmlformats.org/officeDocument/2006/relationships/font" Target="fonts/Oswald-bold.fntdata"/><Relationship Id="rId27" Type="http://schemas.openxmlformats.org/officeDocument/2006/relationships/font" Target="fonts/Oswald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854cb538d7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854cb538d7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840a847c28_0_2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840a847c28_0_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854cb538d7_1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854cb538d7_1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854cb538d7_1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854cb538d7_1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854cb538d7_1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854cb538d7_1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854cb538d7_1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854cb538d7_1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854cb538d7_1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854cb538d7_1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854cb538d7_1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854cb538d7_1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854cb538d7_1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854cb538d7_1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854cb538d7_1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854cb538d7_1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854cb538d7_1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854cb538d7_1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854cb538d7_1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854cb538d7_1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854cb538d7_1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854cb538d7_1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854cb538d7_1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854cb538d7_1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840a847c28_0_3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840a847c28_0_3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854cb538d7_1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854cb538d7_1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754504399c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754504399c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754504399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754504399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840a847c28_0_2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840a847c28_0_2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bg>
      <p:bgPr>
        <a:solidFill>
          <a:srgbClr val="3A4C5A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bg>
      <p:bgPr>
        <a:solidFill>
          <a:srgbClr val="3A4C5A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16.png"/><Relationship Id="rId5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11.png"/><Relationship Id="rId5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youtu.be/6JwMho6UfK4" TargetMode="External"/><Relationship Id="rId4" Type="http://schemas.openxmlformats.org/officeDocument/2006/relationships/hyperlink" Target="https://softtechgroup.us/blog/etl-process-and-the-challenges" TargetMode="External"/><Relationship Id="rId9" Type="http://schemas.openxmlformats.org/officeDocument/2006/relationships/hyperlink" Target="https://medium.com/@Talend/from-lambda-to-kappa-a-guide-on-real-time-big-data-architectures-fe63f3079d3e" TargetMode="External"/><Relationship Id="rId5" Type="http://schemas.openxmlformats.org/officeDocument/2006/relationships/hyperlink" Target="https://towardsdatascience.com/a-brief-introduction-to-two-data-processing-architectures-lambda-and-kappa-for-big-data-4f35c28005bb" TargetMode="External"/><Relationship Id="rId6" Type="http://schemas.openxmlformats.org/officeDocument/2006/relationships/hyperlink" Target="http://www.datascienceassn.org/sites/default/files/Kappa%20Architecture%20-%20Pros%20and%20Cons.pdf" TargetMode="External"/><Relationship Id="rId7" Type="http://schemas.openxmlformats.org/officeDocument/2006/relationships/hyperlink" Target="https://www.oreilly.com/radar/questioning-the-lambda-architecture/" TargetMode="External"/><Relationship Id="rId8" Type="http://schemas.openxmlformats.org/officeDocument/2006/relationships/hyperlink" Target="https://medium.com/@anishekagarwal/kappa-architecture-in-practice-b0a4870f3da6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The data engineer’s journey</a:t>
            </a:r>
            <a:endParaRPr sz="3000" u="sng">
              <a:solidFill>
                <a:srgbClr val="FF0000"/>
              </a:solidFill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671225" y="4083825"/>
            <a:ext cx="7801500" cy="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Murzabekov Almaz</a:t>
            </a:r>
            <a:endParaRPr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Moscow, 2020</a:t>
            </a:r>
            <a:endParaRPr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A data engineer’s dream</a:t>
            </a:r>
            <a:endParaRPr/>
          </a:p>
        </p:txBody>
      </p:sp>
      <p:pic>
        <p:nvPicPr>
          <p:cNvPr id="66" name="Google Shape;6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8525" y="2026588"/>
            <a:ext cx="1171000" cy="117100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4"/>
          <p:cNvSpPr/>
          <p:nvPr/>
        </p:nvSpPr>
        <p:spPr>
          <a:xfrm>
            <a:off x="2454000" y="1855975"/>
            <a:ext cx="1871532" cy="1512216"/>
          </a:xfrm>
          <a:prstGeom prst="cloud">
            <a:avLst/>
          </a:prstGeom>
          <a:solidFill>
            <a:srgbClr val="3A4C5A"/>
          </a:solidFill>
          <a:ln cap="flat" cmpd="sng" w="1143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4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Magic </a:t>
            </a:r>
            <a:endParaRPr b="1" sz="24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821275" y="3197575"/>
            <a:ext cx="805500" cy="3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Data</a:t>
            </a:r>
            <a:endParaRPr b="1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69" name="Google Shape;69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45125" y="1687802"/>
            <a:ext cx="1518725" cy="1767928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27675" y="1620113"/>
            <a:ext cx="1470800" cy="19032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1" name="Google Shape;71;p14"/>
          <p:cNvCxnSpPr/>
          <p:nvPr/>
        </p:nvCxnSpPr>
        <p:spPr>
          <a:xfrm>
            <a:off x="1995425" y="2559350"/>
            <a:ext cx="303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2" name="Google Shape;72;p14"/>
          <p:cNvCxnSpPr/>
          <p:nvPr/>
        </p:nvCxnSpPr>
        <p:spPr>
          <a:xfrm>
            <a:off x="4483525" y="2559350"/>
            <a:ext cx="303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3" name="Google Shape;73;p14"/>
          <p:cNvCxnSpPr/>
          <p:nvPr/>
        </p:nvCxnSpPr>
        <p:spPr>
          <a:xfrm>
            <a:off x="6463850" y="2559350"/>
            <a:ext cx="303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ETL-processes</a:t>
            </a:r>
            <a:endParaRPr/>
          </a:p>
        </p:txBody>
      </p:sp>
      <p:pic>
        <p:nvPicPr>
          <p:cNvPr id="79" name="Google Shape;7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4938" y="1406699"/>
            <a:ext cx="7074125" cy="28606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MAINTENANCE COSTS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ru"/>
              <a:t>spendings for additional staging area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ru"/>
              <a:t>network, disks, io, etc usages</a:t>
            </a:r>
            <a:endParaRPr/>
          </a:p>
        </p:txBody>
      </p:sp>
      <p:sp>
        <p:nvSpPr>
          <p:cNvPr id="85" name="Google Shape;8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The problems of ETL/ELT processes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6" name="Google Shape;8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32100" y="1152475"/>
            <a:ext cx="1981199" cy="1981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MAINTENANCE COSTS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ru"/>
              <a:t>spendings for additional staging area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ru"/>
              <a:t>network, disks, io, etc usages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 sz="1800"/>
              <a:t>NOT A (NEAR) REAL-TIME SOLUTION</a:t>
            </a:r>
            <a:endParaRPr sz="18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ru"/>
              <a:t>Transformation time</a:t>
            </a:r>
            <a:endParaRPr/>
          </a:p>
        </p:txBody>
      </p:sp>
      <p:sp>
        <p:nvSpPr>
          <p:cNvPr id="92" name="Google Shape;9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The problems of ETL/ELT processes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3" name="Google Shape;9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32100" y="1152475"/>
            <a:ext cx="1981199" cy="1981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07050" y="1935300"/>
            <a:ext cx="1905000" cy="190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MAINTENANCE COSTS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ru"/>
              <a:t>spendings for additional staging area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ru"/>
              <a:t>network, disks, io, etc usages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 sz="1800"/>
              <a:t>NOT A (NEAR) REAL-TIME SOLUTION</a:t>
            </a:r>
            <a:endParaRPr sz="18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ru"/>
              <a:t>Transformation time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STRICT DATA STRUCTURE</a:t>
            </a:r>
            <a:endParaRPr/>
          </a:p>
        </p:txBody>
      </p:sp>
      <p:sp>
        <p:nvSpPr>
          <p:cNvPr id="100" name="Google Shape;10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The problems of ETL/ELT processes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1" name="Google Shape;10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32100" y="1152475"/>
            <a:ext cx="1981199" cy="1981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07050" y="1935300"/>
            <a:ext cx="190500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89275" y="2522175"/>
            <a:ext cx="2046700" cy="204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MAINTENANCE COSTS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ru"/>
              <a:t>spendings for additional staging area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ru"/>
              <a:t>network, disks, io, etc usages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 sz="1800"/>
              <a:t>NOT A (NEAR) REAL-TIME SOLUTION</a:t>
            </a:r>
            <a:endParaRPr sz="18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ru"/>
              <a:t>Transformation time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STRICT DATA STRUCTURE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IMPACT FOR SOURCE SYSTEMS</a:t>
            </a:r>
            <a:endParaRPr/>
          </a:p>
        </p:txBody>
      </p:sp>
      <p:sp>
        <p:nvSpPr>
          <p:cNvPr id="109" name="Google Shape;109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The problems of ETL/ELT processes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0" name="Google Shape;11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32100" y="1152475"/>
            <a:ext cx="1981199" cy="1981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07050" y="1935300"/>
            <a:ext cx="190500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89275" y="2522175"/>
            <a:ext cx="2046700" cy="204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985825" y="3268425"/>
            <a:ext cx="1678575" cy="167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3A4C5A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0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LAMBDA ARCHITECTURE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Lambda architecture</a:t>
            </a:r>
            <a:endParaRPr/>
          </a:p>
        </p:txBody>
      </p:sp>
      <p:pic>
        <p:nvPicPr>
          <p:cNvPr id="124" name="Google Shape;12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44525" y="1498425"/>
            <a:ext cx="5254952" cy="2782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71850" y="1498425"/>
            <a:ext cx="5200300" cy="2782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Lambda architecture</a:t>
            </a:r>
            <a:endParaRPr/>
          </a:p>
        </p:txBody>
      </p:sp>
      <p:pic>
        <p:nvPicPr>
          <p:cNvPr id="131" name="Google Shape;13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44525" y="1498425"/>
            <a:ext cx="5254952" cy="2782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Lambda architecture</a:t>
            </a:r>
            <a:endParaRPr/>
          </a:p>
        </p:txBody>
      </p:sp>
      <p:pic>
        <p:nvPicPr>
          <p:cNvPr id="137" name="Google Shape;13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44525" y="1498425"/>
            <a:ext cx="5254952" cy="2782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71850" y="1498425"/>
            <a:ext cx="5200300" cy="2782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71850" y="1539375"/>
            <a:ext cx="5200301" cy="2782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The problems of Lambda Architecture</a:t>
            </a:r>
            <a:endParaRPr/>
          </a:p>
        </p:txBody>
      </p:sp>
      <p:sp>
        <p:nvSpPr>
          <p:cNvPr id="145" name="Google Shape;145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CODING OVERHEAD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ru"/>
              <a:t>Batch Layer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ru"/>
              <a:t>Speed Layer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ru"/>
              <a:t>Serving Layer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ru"/>
              <a:t>Other Layers.. :-(</a:t>
            </a:r>
            <a:endParaRPr/>
          </a:p>
        </p:txBody>
      </p:sp>
      <p:pic>
        <p:nvPicPr>
          <p:cNvPr id="146" name="Google Shape;14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58300" y="1152475"/>
            <a:ext cx="2501750" cy="2351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The problems of Lambda Architecture</a:t>
            </a:r>
            <a:endParaRPr/>
          </a:p>
        </p:txBody>
      </p:sp>
      <p:sp>
        <p:nvSpPr>
          <p:cNvPr id="152" name="Google Shape;152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CODING OVERHEAD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ru"/>
              <a:t>Batch Layer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ru"/>
              <a:t>Speed Layer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ru"/>
              <a:t>Serving Layer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ru"/>
              <a:t>Other Layers.. :-(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REPROCESSING HISTORICAL DATA</a:t>
            </a:r>
            <a:endParaRPr/>
          </a:p>
        </p:txBody>
      </p:sp>
      <p:pic>
        <p:nvPicPr>
          <p:cNvPr id="153" name="Google Shape;15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58300" y="1152475"/>
            <a:ext cx="2501750" cy="2351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96875" y="1858438"/>
            <a:ext cx="2132425" cy="2004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The problems of Lambda Architecture</a:t>
            </a:r>
            <a:endParaRPr/>
          </a:p>
        </p:txBody>
      </p:sp>
      <p:sp>
        <p:nvSpPr>
          <p:cNvPr id="160" name="Google Shape;160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CODING OVERHEAD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ru"/>
              <a:t>Batch Layer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ru"/>
              <a:t>Speed Layer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ru"/>
              <a:t>Serving Layer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ru"/>
              <a:t>Other Layers.. :-(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REPROCESSING HISTORICAL DATA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IT IS DIFFICULT</a:t>
            </a:r>
            <a:endParaRPr/>
          </a:p>
        </p:txBody>
      </p:sp>
      <p:pic>
        <p:nvPicPr>
          <p:cNvPr id="161" name="Google Shape;16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58300" y="1152475"/>
            <a:ext cx="2501750" cy="2351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96875" y="1858438"/>
            <a:ext cx="2132425" cy="200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10325" y="2460175"/>
            <a:ext cx="2204925" cy="207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3A4C5A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7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KAPPA</a:t>
            </a:r>
            <a:r>
              <a:rPr lang="ru"/>
              <a:t> ARCHITECTURE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Kappa architecture</a:t>
            </a:r>
            <a:endParaRPr/>
          </a:p>
        </p:txBody>
      </p:sp>
      <p:pic>
        <p:nvPicPr>
          <p:cNvPr id="174" name="Google Shape;17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8038" y="1740250"/>
            <a:ext cx="7407926" cy="1029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8"/>
          <p:cNvSpPr txBox="1"/>
          <p:nvPr/>
        </p:nvSpPr>
        <p:spPr>
          <a:xfrm>
            <a:off x="868050" y="3426950"/>
            <a:ext cx="6469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Keep It Simple and Stupid (</a:t>
            </a:r>
            <a:r>
              <a:rPr lang="ru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KISS) - a software engineering principle</a:t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3A4C5A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9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DELTA</a:t>
            </a:r>
            <a:r>
              <a:rPr lang="ru"/>
              <a:t> ARCHITECTURE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Delta architecture</a:t>
            </a:r>
            <a:endParaRPr/>
          </a:p>
        </p:txBody>
      </p:sp>
      <p:pic>
        <p:nvPicPr>
          <p:cNvPr id="186" name="Google Shape;186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7775" y="1685514"/>
            <a:ext cx="6808447" cy="177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Conclusions</a:t>
            </a:r>
            <a:endParaRPr/>
          </a:p>
        </p:txBody>
      </p:sp>
      <p:sp>
        <p:nvSpPr>
          <p:cNvPr id="192" name="Google Shape;192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swald"/>
              <a:buChar char="-"/>
            </a:pPr>
            <a:r>
              <a:rPr lang="ru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There are no silver bullet</a:t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swald"/>
              <a:buChar char="-"/>
            </a:pPr>
            <a:r>
              <a:rPr lang="ru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You MUST understand your data</a:t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swald"/>
              <a:buChar char="-"/>
            </a:pPr>
            <a:r>
              <a:rPr lang="ru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Each architecture has own pros and cons</a:t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swald"/>
              <a:buChar char="-"/>
            </a:pPr>
            <a:r>
              <a:rPr lang="ru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A good data-engineer understand the future business-needs </a:t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RESOURCES</a:t>
            </a:r>
            <a:endParaRPr/>
          </a:p>
        </p:txBody>
      </p:sp>
      <p:sp>
        <p:nvSpPr>
          <p:cNvPr id="198" name="Google Shape;198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b="1" lang="ru" sz="12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Beyond Lambda: Introducing Delta Architecture: </a:t>
            </a:r>
            <a:r>
              <a:rPr lang="ru" sz="1200" u="sng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https://shorturl.at/iqRY1</a:t>
            </a:r>
            <a:endParaRPr b="1" sz="12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b="1" lang="ru" sz="12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Анти-введение в Big Data — Владимир Красильщик (youtube)</a:t>
            </a:r>
            <a:r>
              <a:rPr lang="ru" sz="12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: </a:t>
            </a:r>
            <a:r>
              <a:rPr lang="ru" sz="1200" u="sng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https://youtu.be/7RhFo6U2NrY</a:t>
            </a:r>
            <a:endParaRPr b="1" sz="12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b="1" lang="ru" sz="12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BigПочта: как мы строили DataLake в Почте России (youtube): </a:t>
            </a:r>
            <a:r>
              <a:rPr lang="ru" sz="1200" u="sng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  <a:hlinkClick r:id="rId3"/>
              </a:rPr>
              <a:t>https://youtu.be/6JwMho6UfK4</a:t>
            </a:r>
            <a:endParaRPr b="1" sz="1200" u="sng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swald"/>
              <a:buChar char="-"/>
            </a:pPr>
            <a:r>
              <a:rPr b="1" lang="ru" sz="1200" u="sng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ETL Process and The Challenges: </a:t>
            </a:r>
            <a:r>
              <a:rPr lang="ru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https://softtechgroup.us/blog/etl-process-and-the-challenges</a:t>
            </a:r>
            <a:endParaRPr b="1" sz="1200" u="sng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swald"/>
              <a:buChar char="-"/>
            </a:pPr>
            <a:r>
              <a:rPr b="1" lang="ru" sz="1200" u="sng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A brief introduction to two data processing architectures — Lambda and Kappa for Big Data: </a:t>
            </a:r>
            <a:r>
              <a:rPr lang="ru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https://towardsdatascience.com/a-brief-introduction-to-two-data-processing-architectures-lambda-and-kappa-for-big-data-4f35c28005bb</a:t>
            </a:r>
            <a:endParaRPr b="1" sz="1200" u="sng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swald"/>
              <a:buChar char="-"/>
            </a:pPr>
            <a:r>
              <a:rPr b="1" lang="ru" sz="1200" u="sng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Kappa Architecture Our Experience at ASP GEMS </a:t>
            </a:r>
            <a:r>
              <a:rPr lang="ru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6"/>
              </a:rPr>
              <a:t>http://www.datascienceassn.org/sites/default/files/Kappa%20Architecture%20-%20Pros%20and%20Cons.pdf</a:t>
            </a:r>
            <a:endParaRPr b="1" sz="1200" u="sng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swald"/>
              <a:buChar char="-"/>
            </a:pPr>
            <a:r>
              <a:rPr b="1" lang="ru" sz="1200" u="sng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Questioning the Lambda Architecture: </a:t>
            </a:r>
            <a:r>
              <a:rPr lang="ru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7"/>
              </a:rPr>
              <a:t>https://www.oreilly.com/radar/questioning-the-lambda-architecture/</a:t>
            </a:r>
            <a:endParaRPr b="1" sz="1200" u="sng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swald"/>
              <a:buChar char="-"/>
            </a:pPr>
            <a:r>
              <a:rPr b="1" lang="ru" sz="1200" u="sng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Kappa Architecture : In Practice: </a:t>
            </a:r>
            <a:r>
              <a:rPr lang="ru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8"/>
              </a:rPr>
              <a:t>https://medium.com/@anishekagarwal/kappa-architecture-in-practice-b0a4870f3da6</a:t>
            </a:r>
            <a:endParaRPr b="1" sz="1200" u="sng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swald"/>
              <a:buChar char="-"/>
            </a:pPr>
            <a:r>
              <a:rPr b="1" lang="ru" sz="1200" u="sng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From Lambda to Kappa: A Guide on Real-time Big Data Architectures: </a:t>
            </a:r>
            <a:r>
              <a:rPr lang="ru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9"/>
              </a:rPr>
              <a:t>https://medium.com/@Talend/from-lambda-to-kappa-a-guide-on-real-time-big-data-architectures-fe63f3079d3e</a:t>
            </a:r>
            <a:endParaRPr sz="1200" u="sng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