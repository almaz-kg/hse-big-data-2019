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Average"/>
      <p:regular r:id="rId16"/>
    </p:embeddedFont>
    <p:embeddedFont>
      <p:font typeface="Oswald"/>
      <p:regular r:id="rId17"/>
      <p:bold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Oswald-regular.fntdata"/><Relationship Id="rId16" Type="http://schemas.openxmlformats.org/officeDocument/2006/relationships/font" Target="fonts/Average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font" Target="fonts/Oswald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8582d0b6b6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8582d0b6b6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8582d0b6b6_2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8582d0b6b6_2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840a847c28_0_2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840a847c28_0_2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854cb538d7_1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854cb538d7_1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8582d0b6b6_2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8582d0b6b6_2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854cb538d7_1_1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854cb538d7_1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854cb538d7_1_1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854cb538d7_1_1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840a847c28_0_3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840a847c28_0_3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840a847c28_0_2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840a847c28_0_2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type="title">
  <p:cSld name="TITLE">
    <p:bg>
      <p:bgPr>
        <a:solidFill>
          <a:srgbClr val="3A4C5A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4350279" y="2855377"/>
            <a:ext cx="443589" cy="105632"/>
            <a:chOff x="4137525" y="2915950"/>
            <a:chExt cx="869100" cy="207000"/>
          </a:xfrm>
        </p:grpSpPr>
        <p:sp>
          <p:nvSpPr>
            <p:cNvPr id="11" name="Google Shape;11;p2"/>
            <p:cNvSpPr/>
            <p:nvPr/>
          </p:nvSpPr>
          <p:spPr>
            <a:xfrm>
              <a:off x="446857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47996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41375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671250" y="2141250"/>
            <a:ext cx="7852200" cy="86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body" type="tx">
  <p:cSld name="TITLE_AND_BODY">
    <p:bg>
      <p:bgPr>
        <a:solidFill>
          <a:srgbClr val="3A4C5A"/>
        </a:solid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Main point">
  <p:cSld name="MAIN_POINT">
    <p:bg>
      <p:bgPr>
        <a:solidFill>
          <a:schemeClr val="lt2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490250" y="5263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9"/>
          <p:cNvSpPr txBox="1"/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65500" y="28452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Oswald"/>
              <a:buNone/>
              <a:defRPr sz="21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255275"/>
            <a:ext cx="8520600" cy="189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slat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Char char="●"/>
              <a:defRPr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lvl="1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lvl="2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lvl="3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lvl="4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lvl="5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lvl="6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lvl="7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lvl="8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://itarchitects.ca/architecture-as-a-service-aaas/" TargetMode="External"/><Relationship Id="rId4" Type="http://schemas.openxmlformats.org/officeDocument/2006/relationships/hyperlink" Target="https://blog.opengroup.org/2018/07/10/enterprise-architecture-as-a-service-what/" TargetMode="External"/><Relationship Id="rId5" Type="http://schemas.openxmlformats.org/officeDocument/2006/relationships/hyperlink" Target="https://www.druva.com/blog/data-management-service-understanding-technology/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12.png"/><Relationship Id="rId5" Type="http://schemas.openxmlformats.org/officeDocument/2006/relationships/image" Target="../media/image1.png"/><Relationship Id="rId6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panoply.io/data-warehouse-guide/etl-tools/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Relationship Id="rId4" Type="http://schemas.openxmlformats.org/officeDocument/2006/relationships/image" Target="../media/image9.png"/><Relationship Id="rId5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softtechgroup.us/blog/etl-process-and-the-challenges" TargetMode="External"/><Relationship Id="rId4" Type="http://schemas.openxmlformats.org/officeDocument/2006/relationships/hyperlink" Target="https://towardsdatascience.com/a-brief-introduction-to-two-data-processing-architectures-lambda-and-kappa-for-big-data-4f35c28005bb" TargetMode="External"/><Relationship Id="rId5" Type="http://schemas.openxmlformats.org/officeDocument/2006/relationships/hyperlink" Target="http://www.datascienceassn.org/sites/default/files/Kappa%20Architecture%20-%20Pros%20and%20Cons.pdf" TargetMode="External"/><Relationship Id="rId6" Type="http://schemas.openxmlformats.org/officeDocument/2006/relationships/hyperlink" Target="https://www.oreilly.com/radar/questioning-the-lambda-architecture/" TargetMode="External"/><Relationship Id="rId7" Type="http://schemas.openxmlformats.org/officeDocument/2006/relationships/hyperlink" Target="https://medium.com/@anishekagarwal/kappa-architecture-in-practice-b0a4870f3da6" TargetMode="External"/><Relationship Id="rId8" Type="http://schemas.openxmlformats.org/officeDocument/2006/relationships/hyperlink" Target="https://medium.com/@Talend/from-lambda-to-kappa-a-guide-on-real-time-big-data-architectures-fe63f3079d3e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/>
              <a:t>Beyond the ETL: Lambda and Kappa</a:t>
            </a:r>
            <a:endParaRPr sz="3000" u="sng">
              <a:solidFill>
                <a:srgbClr val="FF0000"/>
              </a:solidFill>
            </a:endParaRPr>
          </a:p>
        </p:txBody>
      </p:sp>
      <p:sp>
        <p:nvSpPr>
          <p:cNvPr id="60" name="Google Shape;60;p13"/>
          <p:cNvSpPr txBox="1"/>
          <p:nvPr/>
        </p:nvSpPr>
        <p:spPr>
          <a:xfrm>
            <a:off x="671225" y="4083825"/>
            <a:ext cx="7801500" cy="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Murzabekov Almaz</a:t>
            </a:r>
            <a:endParaRPr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Moscow, 2020</a:t>
            </a:r>
            <a:endParaRPr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Cloud service models</a:t>
            </a:r>
            <a:endParaRPr/>
          </a:p>
        </p:txBody>
      </p:sp>
      <p:pic>
        <p:nvPicPr>
          <p:cNvPr id="66" name="Google Shape;6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52100" y="1117625"/>
            <a:ext cx="4279275" cy="2974100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4"/>
          <p:cNvSpPr txBox="1"/>
          <p:nvPr/>
        </p:nvSpPr>
        <p:spPr>
          <a:xfrm>
            <a:off x="5893325" y="3675325"/>
            <a:ext cx="3569400" cy="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and many many others</a:t>
            </a:r>
            <a:endParaRPr b="1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Architecture as a Service (AaaS)</a:t>
            </a:r>
            <a:endParaRPr/>
          </a:p>
        </p:txBody>
      </p:sp>
      <p:sp>
        <p:nvSpPr>
          <p:cNvPr id="73" name="Google Shape;73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ru"/>
              <a:t>Integration Platform as a Service (iPaaS)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ru"/>
              <a:t>Enterprise Architecture as a Service (EAaaS)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ru"/>
              <a:t>Data</a:t>
            </a:r>
            <a:r>
              <a:rPr lang="ru"/>
              <a:t> Architecture as a Service (DAaaS)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ru"/>
              <a:t>Data Management as a Service (DMaaS)</a:t>
            </a:r>
            <a:endParaRPr/>
          </a:p>
        </p:txBody>
      </p:sp>
      <p:sp>
        <p:nvSpPr>
          <p:cNvPr id="74" name="Google Shape;74;p15"/>
          <p:cNvSpPr txBox="1"/>
          <p:nvPr/>
        </p:nvSpPr>
        <p:spPr>
          <a:xfrm>
            <a:off x="718850" y="3786350"/>
            <a:ext cx="6810600" cy="63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 u="sng">
                <a:solidFill>
                  <a:schemeClr val="hlink"/>
                </a:solidFill>
                <a:hlinkClick r:id="rId3"/>
              </a:rPr>
              <a:t>http://itarchitects.ca/architecture-as-a-service-aaas/</a:t>
            </a:r>
            <a:endParaRPr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 u="sng">
                <a:solidFill>
                  <a:schemeClr val="hlink"/>
                </a:solidFill>
                <a:hlinkClick r:id="rId4"/>
              </a:rPr>
              <a:t>https://blog.opengroup.org/2018/07/10/enterprise-architecture-as-a-service-what/</a:t>
            </a:r>
            <a:endParaRPr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 u="sng">
                <a:solidFill>
                  <a:schemeClr val="hlink"/>
                </a:solidFill>
                <a:hlinkClick r:id="rId5"/>
              </a:rPr>
              <a:t>https://www.druva.com/blog/data-management-service-understanding-technology/</a:t>
            </a: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ETL-processes</a:t>
            </a:r>
            <a:endParaRPr/>
          </a:p>
        </p:txBody>
      </p:sp>
      <p:pic>
        <p:nvPicPr>
          <p:cNvPr id="80" name="Google Shape;8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4938" y="1406699"/>
            <a:ext cx="7074125" cy="28606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ru"/>
              <a:t>MAINTENANCE COSTS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ru"/>
              <a:t>spendings for additional staging area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ru"/>
              <a:t>network, disks, io, etc usages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ru" sz="1800"/>
              <a:t>NOT A (NEAR) REAL-TIME SOLUTION</a:t>
            </a:r>
            <a:endParaRPr sz="18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ru"/>
              <a:t>Transformation time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ru"/>
              <a:t>STRICT DATA STRUCTURE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ru"/>
              <a:t>IMPACT FOR SOURCE SYSTEMS</a:t>
            </a:r>
            <a:endParaRPr/>
          </a:p>
        </p:txBody>
      </p:sp>
      <p:sp>
        <p:nvSpPr>
          <p:cNvPr id="86" name="Google Shape;8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The problems of ETL/ELT processes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7" name="Google Shape;8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32100" y="1152475"/>
            <a:ext cx="1369700" cy="1369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05250" y="1152475"/>
            <a:ext cx="1178775" cy="1178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53525" y="2571750"/>
            <a:ext cx="1369700" cy="1369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809788" y="2571750"/>
            <a:ext cx="1369700" cy="136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Cloud based ETL solutions</a:t>
            </a:r>
            <a:endParaRPr/>
          </a:p>
        </p:txBody>
      </p:sp>
      <p:sp>
        <p:nvSpPr>
          <p:cNvPr id="96" name="Google Shape;96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ru"/>
              <a:t>Fivetran: https://fivetran.com/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ru"/>
              <a:t>Blendo: https://www.blendo.co/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ru"/>
              <a:t>StitchData: https://www.stitchdata.com/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ru"/>
              <a:t>Matillion: https://www.matillion.com/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ru"/>
              <a:t>SnapLogic: https://www.snaplogic.com/</a:t>
            </a:r>
            <a:endParaRPr/>
          </a:p>
        </p:txBody>
      </p:sp>
      <p:sp>
        <p:nvSpPr>
          <p:cNvPr id="97" name="Google Shape;97;p18"/>
          <p:cNvSpPr txBox="1"/>
          <p:nvPr/>
        </p:nvSpPr>
        <p:spPr>
          <a:xfrm>
            <a:off x="588725" y="3891700"/>
            <a:ext cx="5701200" cy="9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ETL Tools: Comparing the Best Cloud-Based and Open Source Tools:</a:t>
            </a:r>
            <a:r>
              <a:rPr lang="ru"/>
              <a:t> </a:t>
            </a:r>
            <a:r>
              <a:rPr lang="ru" sz="1100" u="sng">
                <a:solidFill>
                  <a:schemeClr val="hlink"/>
                </a:solidFill>
                <a:hlinkClick r:id="rId3"/>
              </a:rPr>
              <a:t>https://panoply.io/data-warehouse-guide/etl-tools/</a:t>
            </a: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Lambda architecture</a:t>
            </a:r>
            <a:endParaRPr/>
          </a:p>
        </p:txBody>
      </p:sp>
      <p:pic>
        <p:nvPicPr>
          <p:cNvPr id="103" name="Google Shape;103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44525" y="1498425"/>
            <a:ext cx="5254952" cy="27824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71850" y="1498425"/>
            <a:ext cx="5200300" cy="27824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971850" y="1539375"/>
            <a:ext cx="5200301" cy="2782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The problems of Lambda Architecture</a:t>
            </a:r>
            <a:endParaRPr/>
          </a:p>
        </p:txBody>
      </p:sp>
      <p:sp>
        <p:nvSpPr>
          <p:cNvPr id="111" name="Google Shape;111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CODING OVERHEAD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ru"/>
              <a:t>Batch Layer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ru"/>
              <a:t>Speed Layer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ru"/>
              <a:t>Serving Layer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ru"/>
              <a:t>Other Layers.. :-(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REPROCESSING HISTORICAL DATA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IT IS DIFFICULT</a:t>
            </a:r>
            <a:endParaRPr/>
          </a:p>
        </p:txBody>
      </p:sp>
      <p:pic>
        <p:nvPicPr>
          <p:cNvPr id="112" name="Google Shape;11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73500" y="1186237"/>
            <a:ext cx="1720950" cy="1617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64300" y="1251122"/>
            <a:ext cx="1582925" cy="14879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67525" y="1883900"/>
            <a:ext cx="1694324" cy="1592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Kappa architecture</a:t>
            </a:r>
            <a:endParaRPr/>
          </a:p>
        </p:txBody>
      </p:sp>
      <p:pic>
        <p:nvPicPr>
          <p:cNvPr id="120" name="Google Shape;12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8038" y="1740250"/>
            <a:ext cx="7407926" cy="10298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21"/>
          <p:cNvSpPr txBox="1"/>
          <p:nvPr/>
        </p:nvSpPr>
        <p:spPr>
          <a:xfrm>
            <a:off x="868050" y="3426950"/>
            <a:ext cx="6469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Keep It Simple and Stupid (</a:t>
            </a:r>
            <a:r>
              <a:rPr lang="ru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KISS) - a software engineering principle</a:t>
            </a:r>
            <a:endParaRPr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RESOURCES</a:t>
            </a:r>
            <a:endParaRPr/>
          </a:p>
        </p:txBody>
      </p:sp>
      <p:sp>
        <p:nvSpPr>
          <p:cNvPr id="127" name="Google Shape;127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-"/>
            </a:pPr>
            <a:r>
              <a:rPr b="1" lang="ru" sz="12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Beyond Lambda: Introducing Delta Architecture: </a:t>
            </a:r>
            <a:r>
              <a:rPr lang="ru" sz="1200" u="sng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https://shorturl.at/iqRY1</a:t>
            </a:r>
            <a:endParaRPr b="1" sz="1200" u="sng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swald"/>
              <a:buChar char="-"/>
            </a:pPr>
            <a:r>
              <a:rPr b="1" lang="ru" sz="1200" u="sng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ETL Process and The Challenges: </a:t>
            </a:r>
            <a:r>
              <a:rPr lang="ru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https://softtechgroup.us/blog/etl-process-and-the-challenges</a:t>
            </a:r>
            <a:endParaRPr b="1" sz="1200" u="sng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swald"/>
              <a:buChar char="-"/>
            </a:pPr>
            <a:r>
              <a:rPr b="1" lang="ru" sz="1200" u="sng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A brief introduction to two data processing architectures — Lambda and Kappa for Big Data: </a:t>
            </a:r>
            <a:r>
              <a:rPr lang="ru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https://towardsdatascience.com/a-brief-introduction-to-two-data-processing-architectures-lambda-and-kappa-for-big-data-4f35c28005bb</a:t>
            </a:r>
            <a:endParaRPr b="1" sz="1200" u="sng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swald"/>
              <a:buChar char="-"/>
            </a:pPr>
            <a:r>
              <a:rPr b="1" lang="ru" sz="1200" u="sng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Kappa Architecture Our Experience at ASP GEMS </a:t>
            </a:r>
            <a:r>
              <a:rPr lang="ru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5"/>
              </a:rPr>
              <a:t>http://www.datascienceassn.org/sites/default/files/Kappa%20Architecture%20-%20Pros%20and%20Cons.pdf</a:t>
            </a:r>
            <a:endParaRPr b="1" sz="1200" u="sng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swald"/>
              <a:buChar char="-"/>
            </a:pPr>
            <a:r>
              <a:rPr b="1" lang="ru" sz="1200" u="sng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Questioning the Lambda Architecture: </a:t>
            </a:r>
            <a:r>
              <a:rPr lang="ru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6"/>
              </a:rPr>
              <a:t>https://www.oreilly.com/radar/questioning-the-lambda-architecture/</a:t>
            </a:r>
            <a:endParaRPr b="1" sz="1200" u="sng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swald"/>
              <a:buChar char="-"/>
            </a:pPr>
            <a:r>
              <a:rPr b="1" lang="ru" sz="1200" u="sng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Kappa Architecture : In Practice: </a:t>
            </a:r>
            <a:r>
              <a:rPr lang="ru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7"/>
              </a:rPr>
              <a:t>https://medium.com/@anishekagarwal/kappa-architecture-in-practice-b0a4870f3da6</a:t>
            </a:r>
            <a:endParaRPr b="1" sz="1200" u="sng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swald"/>
              <a:buChar char="-"/>
            </a:pPr>
            <a:r>
              <a:rPr b="1" lang="ru" sz="1200" u="sng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From Lambda to Kappa: A Guide on Real-time Big Data Architectures: </a:t>
            </a:r>
            <a:r>
              <a:rPr lang="ru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8"/>
              </a:rPr>
              <a:t>https://medium.com/@Talend/from-lambda-to-kappa-a-guide-on-real-time-big-data-architectures-fe63f3079d3e</a:t>
            </a:r>
            <a:endParaRPr sz="1200" u="sng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late">
  <a:themeElements>
    <a:clrScheme name="Slate">
      <a:dk1>
        <a:srgbClr val="FFFFFF"/>
      </a:dk1>
      <a:lt1>
        <a:srgbClr val="37474F"/>
      </a:lt1>
      <a:dk2>
        <a:srgbClr val="9E9E9E"/>
      </a:dk2>
      <a:lt2>
        <a:srgbClr val="E0E0E0"/>
      </a:lt2>
      <a:accent1>
        <a:srgbClr val="616161"/>
      </a:accent1>
      <a:accent2>
        <a:srgbClr val="78909C"/>
      </a:accent2>
      <a:accent3>
        <a:srgbClr val="CACACA"/>
      </a:accent3>
      <a:accent4>
        <a:srgbClr val="64FFDA"/>
      </a:accent4>
      <a:accent5>
        <a:srgbClr val="FFD966"/>
      </a:accent5>
      <a:accent6>
        <a:srgbClr val="F5F5F5"/>
      </a:accent6>
      <a:hlink>
        <a:srgbClr val="FFD966"/>
      </a:hlink>
      <a:folHlink>
        <a:srgbClr val="FFD9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