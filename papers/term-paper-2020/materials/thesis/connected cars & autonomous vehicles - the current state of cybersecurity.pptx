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2" r:id="rId7"/>
    <p:sldId id="261" r:id="rId8"/>
    <p:sldId id="263" r:id="rId9"/>
    <p:sldId id="267" r:id="rId10"/>
    <p:sldId id="276" r:id="rId11"/>
    <p:sldId id="266" r:id="rId12"/>
    <p:sldId id="278" r:id="rId13"/>
    <p:sldId id="269" r:id="rId14"/>
    <p:sldId id="268" r:id="rId15"/>
    <p:sldId id="265" r:id="rId16"/>
    <p:sldId id="270" r:id="rId17"/>
    <p:sldId id="279" r:id="rId18"/>
    <p:sldId id="273" r:id="rId19"/>
    <p:sldId id="277" r:id="rId20"/>
    <p:sldId id="280" r:id="rId21"/>
    <p:sldId id="281" r:id="rId22"/>
    <p:sldId id="272" r:id="rId23"/>
    <p:sldId id="274" r:id="rId24"/>
    <p:sldId id="28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E1CC4F2-806C-4905-8B83-A886DB6F1983}">
          <p14:sldIdLst>
            <p14:sldId id="256"/>
            <p14:sldId id="260"/>
            <p14:sldId id="257"/>
            <p14:sldId id="258"/>
          </p14:sldIdLst>
        </p14:section>
        <p14:section name="Quick Review" id="{9A21149A-4312-4E25-BDB2-20D6194831BE}">
          <p14:sldIdLst>
            <p14:sldId id="259"/>
            <p14:sldId id="262"/>
            <p14:sldId id="261"/>
            <p14:sldId id="263"/>
          </p14:sldIdLst>
        </p14:section>
        <p14:section name="Problem Overview" id="{4B61A468-4318-47AF-BC9F-E21DBDA312FE}">
          <p14:sldIdLst>
            <p14:sldId id="267"/>
            <p14:sldId id="276"/>
            <p14:sldId id="266"/>
            <p14:sldId id="278"/>
            <p14:sldId id="269"/>
          </p14:sldIdLst>
        </p14:section>
        <p14:section name="Emerging Solutions" id="{13FBA761-DCDC-45D8-9711-4BACC8C2D213}">
          <p14:sldIdLst>
            <p14:sldId id="268"/>
            <p14:sldId id="265"/>
            <p14:sldId id="270"/>
            <p14:sldId id="279"/>
            <p14:sldId id="273"/>
            <p14:sldId id="277"/>
          </p14:sldIdLst>
        </p14:section>
        <p14:section name="Prospects for Improvement" id="{251DB888-99E2-42A3-A236-E307FC2C65E0}">
          <p14:sldIdLst>
            <p14:sldId id="280"/>
            <p14:sldId id="281"/>
            <p14:sldId id="272"/>
            <p14:sldId id="274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3399"/>
    <a:srgbClr val="EDF955"/>
    <a:srgbClr val="04CC2A"/>
    <a:srgbClr val="FF660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700" autoAdjust="0"/>
  </p:normalViewPr>
  <p:slideViewPr>
    <p:cSldViewPr snapToObjects="1">
      <p:cViewPr varScale="1">
        <p:scale>
          <a:sx n="70" d="100"/>
          <a:sy n="70" d="100"/>
        </p:scale>
        <p:origin x="720" y="5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etup.com/Internet-of-Things-Brighton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www.thethingsnetwork.org/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9808" y="2433828"/>
            <a:ext cx="7772400" cy="1008112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3645024"/>
            <a:ext cx="6400800" cy="64807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  <a:latin typeface="Carlito" panose="020F0502020204030204" pitchFamily="34" charset="0"/>
                <a:cs typeface="Carlito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4013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tius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2372" y="274638"/>
            <a:ext cx="6779096" cy="952500"/>
          </a:xfrm>
          <a:solidFill>
            <a:srgbClr val="0070C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/>
          <a:lstStyle>
            <a:lvl1pPr algn="l">
              <a:defRPr sz="4000">
                <a:ln>
                  <a:solidFill>
                    <a:srgbClr val="00B0F0"/>
                  </a:solidFill>
                </a:ln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		</a:t>
            </a:r>
            <a:r>
              <a:rPr lang="en-US" dirty="0" err="1"/>
              <a:t>astius</a:t>
            </a:r>
            <a:r>
              <a:rPr lang="en-US" dirty="0"/>
              <a:t> technology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268139"/>
          </a:xfrm>
        </p:spPr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57873" y="6453336"/>
            <a:ext cx="2895600" cy="26813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51920" y="6453336"/>
            <a:ext cx="837456" cy="268139"/>
          </a:xfrm>
        </p:spPr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429044" y="5422389"/>
            <a:ext cx="8319419" cy="952500"/>
          </a:xfrm>
          <a:prstGeom prst="rect">
            <a:avLst/>
          </a:prstGeom>
          <a:solidFill>
            <a:srgbClr val="0070C0"/>
          </a:solidFill>
          <a:ln w="25400" cap="flat" cmpd="sng" algn="ctr">
            <a:solidFill>
              <a:schemeClr val="bg1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rgbClr val="00B0F0"/>
                  </a:solidFill>
                </a:ln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Franklin Gothic Medium" panose="020B0603020102020204" pitchFamily="34" charset="0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l"/>
            <a:r>
              <a:rPr lang="en-US" dirty="0"/>
              <a:t>		</a:t>
            </a:r>
            <a:r>
              <a:rPr lang="en-US" dirty="0">
                <a:latin typeface="FrankRuehl" panose="020E0503060101010101" pitchFamily="34" charset="-79"/>
                <a:cs typeface="FrankRuehl" panose="020E0503060101010101" pitchFamily="34" charset="-79"/>
              </a:rPr>
              <a:t>www.astius.co.uk</a:t>
            </a:r>
            <a:endParaRPr lang="en-GB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860031" y="1457998"/>
            <a:ext cx="3778627" cy="3951815"/>
          </a:xfrm>
        </p:spPr>
        <p:txBody>
          <a:bodyPr/>
          <a:lstStyle>
            <a:lvl1pPr marL="0" indent="0">
              <a:buNone/>
              <a:defRPr>
                <a:latin typeface="Franklin Gothic Medium" panose="020B0603020102020204" pitchFamily="34" charset="0"/>
              </a:defRPr>
            </a:lvl1pPr>
            <a:lvl2pPr>
              <a:defRPr>
                <a:latin typeface="Franklin Gothic Medium" panose="020B0603020102020204" pitchFamily="34" charset="0"/>
              </a:defRPr>
            </a:lvl2pPr>
            <a:lvl3pPr>
              <a:defRPr>
                <a:latin typeface="Swis721 BT" panose="020B0504020202020204" pitchFamily="34" charset="0"/>
              </a:defRPr>
            </a:lvl3pPr>
            <a:lvl4pPr>
              <a:defRPr>
                <a:latin typeface="Swis721 BT" panose="020B0504020202020204" pitchFamily="34" charset="0"/>
              </a:defRPr>
            </a:lvl4pPr>
            <a:lvl5pPr>
              <a:defRPr>
                <a:latin typeface="Swis721 BT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377138"/>
            <a:ext cx="3863332" cy="3420014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539552" y="1356444"/>
            <a:ext cx="4149824" cy="2000548"/>
          </a:xfrm>
          <a:prstGeom prst="rect">
            <a:avLst/>
          </a:prstGeom>
          <a:solidFill>
            <a:srgbClr val="EDF95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Franklin Gothic Medium" panose="020B0603020102020204" pitchFamily="34" charset="0"/>
              </a:rPr>
              <a:t>Innovation consultancy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Medium" panose="020B0603020102020204" pitchFamily="34" charset="0"/>
              </a:rPr>
              <a:t>Internet of Things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Medium" panose="020B0603020102020204" pitchFamily="34" charset="0"/>
              </a:rPr>
              <a:t>Blockchain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Medium" panose="020B0603020102020204" pitchFamily="34" charset="0"/>
              </a:rPr>
              <a:t>Wireless Technology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Medium" panose="020B0603020102020204" pitchFamily="34" charset="0"/>
              </a:rPr>
              <a:t>Cybersecurity</a:t>
            </a:r>
            <a:endParaRPr lang="en-GB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539552" y="3429000"/>
            <a:ext cx="4149824" cy="1923604"/>
          </a:xfrm>
          <a:prstGeom prst="rect">
            <a:avLst/>
          </a:prstGeom>
          <a:solidFill>
            <a:srgbClr val="66FF66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Franklin Gothic Medium" panose="020B0603020102020204" pitchFamily="34" charset="0"/>
              </a:rPr>
              <a:t>New Business Thinking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300" baseline="0" dirty="0">
                <a:latin typeface="Franklin Gothic Medium" panose="020B0603020102020204" pitchFamily="34" charset="0"/>
              </a:rPr>
              <a:t>Digital Business Strategy</a:t>
            </a:r>
            <a:endParaRPr lang="en-GB" sz="2300" dirty="0">
              <a:latin typeface="Franklin Gothic Medium" panose="020B06030201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Franklin Gothic Medium" panose="020B0603020102020204" pitchFamily="34" charset="0"/>
              </a:rPr>
              <a:t>New Business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Franklin Gothic Medium" panose="020B0603020102020204" pitchFamily="34" charset="0"/>
              </a:rPr>
              <a:t>Disruptive Innovation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baseline="0" dirty="0">
                <a:latin typeface="Franklin Gothic Medium" panose="020B0603020102020204" pitchFamily="34" charset="0"/>
              </a:rPr>
              <a:t>Training and Skills</a:t>
            </a:r>
          </a:p>
        </p:txBody>
      </p:sp>
    </p:spTree>
    <p:extLst>
      <p:ext uri="{BB962C8B-B14F-4D97-AF65-F5344CB8AC3E}">
        <p14:creationId xmlns:p14="http://schemas.microsoft.com/office/powerpoint/2010/main" val="314381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Astius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2372" y="274638"/>
            <a:ext cx="6779096" cy="952500"/>
          </a:xfrm>
          <a:solidFill>
            <a:srgbClr val="0070C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/>
          <a:lstStyle>
            <a:lvl1pPr algn="l">
              <a:defRPr sz="4000">
                <a:ln>
                  <a:solidFill>
                    <a:srgbClr val="00B0F0"/>
                  </a:solidFill>
                </a:ln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		</a:t>
            </a:r>
            <a:r>
              <a:rPr lang="en-US" dirty="0" err="1"/>
              <a:t>astius</a:t>
            </a:r>
            <a:r>
              <a:rPr lang="en-US" dirty="0"/>
              <a:t> technology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/>
          <a:lstStyle>
            <a:lvl1pPr>
              <a:defRPr>
                <a:latin typeface="Franklin Gothic Medium" panose="020B0603020102020204" pitchFamily="34" charset="0"/>
              </a:defRPr>
            </a:lvl1pPr>
            <a:lvl2pPr>
              <a:defRPr>
                <a:latin typeface="Franklin Gothic Medium" panose="020B0603020102020204" pitchFamily="34" charset="0"/>
              </a:defRPr>
            </a:lvl2pPr>
            <a:lvl3pPr>
              <a:defRPr>
                <a:latin typeface="Swis721 BT" panose="020B0504020202020204" pitchFamily="34" charset="0"/>
              </a:defRPr>
            </a:lvl3pPr>
            <a:lvl4pPr>
              <a:defRPr>
                <a:latin typeface="Swis721 BT" panose="020B0504020202020204" pitchFamily="34" charset="0"/>
              </a:defRPr>
            </a:lvl4pPr>
            <a:lvl5pPr>
              <a:defRPr>
                <a:latin typeface="Swis721 BT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268139"/>
          </a:xfrm>
        </p:spPr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57873" y="6453336"/>
            <a:ext cx="2895600" cy="26813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51920" y="6453336"/>
            <a:ext cx="837456" cy="268139"/>
          </a:xfrm>
        </p:spPr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429045" y="5422389"/>
            <a:ext cx="8224428" cy="952500"/>
          </a:xfrm>
          <a:prstGeom prst="rect">
            <a:avLst/>
          </a:prstGeom>
          <a:solidFill>
            <a:srgbClr val="0070C0"/>
          </a:solidFill>
          <a:ln w="25400" cap="flat" cmpd="sng" algn="ctr">
            <a:solidFill>
              <a:schemeClr val="bg1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rgbClr val="00B0F0"/>
                  </a:solidFill>
                </a:ln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Franklin Gothic Medium" panose="020B0603020102020204" pitchFamily="34" charset="0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l"/>
            <a:r>
              <a:rPr lang="en-US" dirty="0"/>
              <a:t>		</a:t>
            </a:r>
            <a:r>
              <a:rPr lang="en-US" dirty="0">
                <a:latin typeface="FrankRuehl" panose="020E0503060101010101" pitchFamily="34" charset="-79"/>
                <a:cs typeface="FrankRuehl" panose="020E0503060101010101" pitchFamily="34" charset="-79"/>
              </a:rPr>
              <a:t>www.astius.co.uk</a:t>
            </a:r>
            <a:endParaRPr lang="en-GB" dirty="0">
              <a:latin typeface="FrankRuehl" panose="020E0503060101010101" pitchFamily="34" charset="-79"/>
              <a:cs typeface="FrankRuehl" panose="020E05030601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09069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/>
          <a:lstStyle>
            <a:lvl1pPr>
              <a:defRPr>
                <a:latin typeface="Franklin Gothic Medium" panose="020B0603020102020204" pitchFamily="34" charset="0"/>
              </a:defRPr>
            </a:lvl1pPr>
            <a:lvl2pPr>
              <a:defRPr>
                <a:latin typeface="Franklin Gothic Medium" panose="020B0603020102020204" pitchFamily="34" charset="0"/>
              </a:defRPr>
            </a:lvl2pPr>
            <a:lvl3pPr>
              <a:defRPr>
                <a:latin typeface="Swis721 BT" panose="020B0504020202020204" pitchFamily="34" charset="0"/>
              </a:defRPr>
            </a:lvl3pPr>
            <a:lvl4pPr>
              <a:defRPr>
                <a:latin typeface="Swis721 BT" panose="020B0504020202020204" pitchFamily="34" charset="0"/>
              </a:defRPr>
            </a:lvl4pPr>
            <a:lvl5pPr>
              <a:defRPr>
                <a:latin typeface="Swis721 BT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268139"/>
          </a:xfrm>
        </p:spPr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57873" y="6453336"/>
            <a:ext cx="2895600" cy="26813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51920" y="6453336"/>
            <a:ext cx="837456" cy="268139"/>
          </a:xfrm>
        </p:spPr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9610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+Content+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104456"/>
          </a:xfrm>
        </p:spPr>
        <p:txBody>
          <a:bodyPr/>
          <a:lstStyle>
            <a:lvl1pPr>
              <a:defRPr>
                <a:latin typeface="Franklin Gothic Medium" panose="020B0603020102020204" pitchFamily="34" charset="0"/>
              </a:defRPr>
            </a:lvl1pPr>
            <a:lvl2pPr>
              <a:defRPr>
                <a:latin typeface="Franklin Gothic Medium" panose="020B0603020102020204" pitchFamily="34" charset="0"/>
              </a:defRPr>
            </a:lvl2pPr>
            <a:lvl3pPr>
              <a:defRPr>
                <a:latin typeface="Swis721 BT" panose="020B0504020202020204" pitchFamily="34" charset="0"/>
              </a:defRPr>
            </a:lvl3pPr>
            <a:lvl4pPr>
              <a:defRPr>
                <a:latin typeface="Swis721 BT" panose="020B0504020202020204" pitchFamily="34" charset="0"/>
              </a:defRPr>
            </a:lvl4pPr>
            <a:lvl5pPr>
              <a:defRPr>
                <a:latin typeface="Swis721 BT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268139"/>
          </a:xfrm>
        </p:spPr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57873" y="6453336"/>
            <a:ext cx="2895600" cy="26813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51920" y="6453336"/>
            <a:ext cx="837456" cy="268139"/>
          </a:xfrm>
        </p:spPr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462372" y="5733256"/>
            <a:ext cx="8224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Franklin Gothic Medium Cond" panose="020B0606030402020204" pitchFamily="34" charset="0"/>
              </a:rPr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1098009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What you will learn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/>
          <a:lstStyle>
            <a:lvl1pPr>
              <a:defRPr>
                <a:latin typeface="Franklin Gothic Medium" panose="020B0603020102020204" pitchFamily="34" charset="0"/>
              </a:defRPr>
            </a:lvl1pPr>
            <a:lvl2pPr>
              <a:defRPr>
                <a:latin typeface="Franklin Gothic Medium" panose="020B0603020102020204" pitchFamily="34" charset="0"/>
              </a:defRPr>
            </a:lvl2pPr>
            <a:lvl3pPr>
              <a:defRPr>
                <a:latin typeface="Swis721 BT" panose="020B0504020202020204" pitchFamily="34" charset="0"/>
              </a:defRPr>
            </a:lvl3pPr>
            <a:lvl4pPr>
              <a:defRPr>
                <a:latin typeface="Swis721 BT" panose="020B0504020202020204" pitchFamily="34" charset="0"/>
              </a:defRPr>
            </a:lvl4pPr>
            <a:lvl5pPr>
              <a:defRPr>
                <a:latin typeface="Swis721 BT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268139"/>
          </a:xfrm>
        </p:spPr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57873" y="6453336"/>
            <a:ext cx="2895600" cy="26813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51920" y="6453336"/>
            <a:ext cx="837456" cy="268139"/>
          </a:xfrm>
        </p:spPr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561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ick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Section Review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/>
          <a:lstStyle>
            <a:lvl1pPr>
              <a:defRPr>
                <a:latin typeface="Franklin Gothic Medium" panose="020B0603020102020204" pitchFamily="34" charset="0"/>
              </a:defRPr>
            </a:lvl1pPr>
            <a:lvl2pPr>
              <a:defRPr>
                <a:latin typeface="Franklin Gothic Medium" panose="020B0603020102020204" pitchFamily="34" charset="0"/>
              </a:defRPr>
            </a:lvl2pPr>
            <a:lvl3pPr>
              <a:defRPr>
                <a:latin typeface="Swis721 BT" panose="020B0504020202020204" pitchFamily="34" charset="0"/>
              </a:defRPr>
            </a:lvl3pPr>
            <a:lvl4pPr>
              <a:defRPr>
                <a:latin typeface="Swis721 BT" panose="020B0504020202020204" pitchFamily="34" charset="0"/>
              </a:defRPr>
            </a:lvl4pPr>
            <a:lvl5pPr>
              <a:defRPr>
                <a:latin typeface="Swis721 BT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268139"/>
          </a:xfrm>
        </p:spPr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57873" y="6453336"/>
            <a:ext cx="2895600" cy="26813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51920" y="6453336"/>
            <a:ext cx="837456" cy="268139"/>
          </a:xfrm>
        </p:spPr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0612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ick Qu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>
            <a:lvl1pPr>
              <a:defRPr b="1" cap="none" spc="0" baseline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Accord SF" panose="020B7200000000000000" pitchFamily="34" charset="0"/>
              </a:defRPr>
            </a:lvl1pPr>
          </a:lstStyle>
          <a:p>
            <a:r>
              <a:rPr lang="en-US" dirty="0"/>
              <a:t>Quick Quiz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/>
          <a:lstStyle>
            <a:lvl1pPr>
              <a:defRPr>
                <a:latin typeface="Franklin Gothic Medium" panose="020B0603020102020204" pitchFamily="34" charset="0"/>
              </a:defRPr>
            </a:lvl1pPr>
            <a:lvl2pPr>
              <a:defRPr>
                <a:latin typeface="Franklin Gothic Medium" panose="020B0603020102020204" pitchFamily="34" charset="0"/>
              </a:defRPr>
            </a:lvl2pPr>
            <a:lvl3pPr>
              <a:defRPr>
                <a:latin typeface="Swis721 BT" panose="020B0504020202020204" pitchFamily="34" charset="0"/>
              </a:defRPr>
            </a:lvl3pPr>
            <a:lvl4pPr>
              <a:defRPr>
                <a:latin typeface="Swis721 BT" panose="020B0504020202020204" pitchFamily="34" charset="0"/>
              </a:defRPr>
            </a:lvl4pPr>
            <a:lvl5pPr>
              <a:defRPr>
                <a:latin typeface="Swis721 BT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53336"/>
            <a:ext cx="2133600" cy="268139"/>
          </a:xfrm>
        </p:spPr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57873" y="6453336"/>
            <a:ext cx="2895600" cy="268139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51920" y="6453336"/>
            <a:ext cx="837456" cy="268139"/>
          </a:xfrm>
        </p:spPr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1599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844352" y="2204864"/>
            <a:ext cx="7328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aseline="0" dirty="0">
                <a:latin typeface="Franklin Gothic Medium" panose="020B0603020102020204" pitchFamily="34" charset="0"/>
              </a:rPr>
              <a:t>TOPIC</a:t>
            </a:r>
            <a:r>
              <a:rPr lang="en-GB" baseline="0" dirty="0">
                <a:latin typeface="Franklin Gothic Medium" panose="020B0603020102020204" pitchFamily="34" charset="0"/>
              </a:rPr>
              <a:t> </a:t>
            </a:r>
            <a:endParaRPr lang="en-GB" dirty="0">
              <a:latin typeface="Franklin Gothic Medium" panose="020B0603020102020204" pitchFamily="34" charset="0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971600" y="3140968"/>
            <a:ext cx="6772200" cy="501694"/>
          </a:xfrm>
        </p:spPr>
        <p:txBody>
          <a:bodyPr anchor="b">
            <a:noAutofit/>
          </a:bodyPr>
          <a:lstStyle>
            <a:lvl1pPr marL="0" indent="0" algn="l">
              <a:buNone/>
              <a:defRPr sz="3200" i="1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SubTopic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95347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About your trainer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99" y="1988839"/>
            <a:ext cx="2424301" cy="2424301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3563888" y="1988840"/>
            <a:ext cx="5256584" cy="338554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lvl="0"/>
            <a:r>
              <a:rPr lang="en-US" sz="3200" dirty="0">
                <a:latin typeface="Franklin Gothic Medium" panose="020B0603020102020204" pitchFamily="34" charset="0"/>
              </a:rPr>
              <a:t>Bill Harpley MSc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Medium" panose="020B0603020102020204" pitchFamily="34" charset="0"/>
              </a:rPr>
              <a:t>30+ years in technology sector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Medium" panose="020B0603020102020204" pitchFamily="34" charset="0"/>
              </a:rPr>
              <a:t>Founder of Astius Technology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Medium" panose="020B0603020102020204" pitchFamily="34" charset="0"/>
              </a:rPr>
              <a:t>Organizer of </a:t>
            </a:r>
            <a:r>
              <a:rPr lang="en-US" sz="2400" dirty="0">
                <a:latin typeface="Franklin Gothic Medium" panose="020B0603020102020204" pitchFamily="34" charset="0"/>
                <a:hlinkClick r:id="rId3"/>
              </a:rPr>
              <a:t>Brighton IoT meetup</a:t>
            </a:r>
            <a:r>
              <a:rPr lang="en-US" sz="2400" dirty="0">
                <a:latin typeface="Franklin Gothic Medium" panose="020B0603020102020204" pitchFamily="34" charset="0"/>
              </a:rPr>
              <a:t> group (700+ members)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Medium" panose="020B0603020102020204" pitchFamily="34" charset="0"/>
              </a:rPr>
              <a:t>Initiator of Brighton node of the global </a:t>
            </a:r>
            <a:r>
              <a:rPr lang="en-US" sz="2400" dirty="0">
                <a:latin typeface="Franklin Gothic Medium" panose="020B0603020102020204" pitchFamily="34" charset="0"/>
                <a:hlinkClick r:id="rId4"/>
              </a:rPr>
              <a:t>Things Network</a:t>
            </a:r>
            <a:endParaRPr lang="en-US" sz="2400" dirty="0">
              <a:latin typeface="Franklin Gothic Medium" panose="020B0603020102020204" pitchFamily="34" charset="0"/>
            </a:endParaRPr>
          </a:p>
          <a:p>
            <a:endParaRPr lang="en-GB" dirty="0"/>
          </a:p>
        </p:txBody>
      </p:sp>
      <p:pic>
        <p:nvPicPr>
          <p:cNvPr id="1026" name="Picture 2" descr="E:\Astius-Branding\Logos\Other companies\LinkedIn\linkedin_logo_package\LinkedIn logo\Screen\2-Color\Logo-2C-128px-TM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21" y="4559754"/>
            <a:ext cx="1097047" cy="27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773832" y="4880193"/>
            <a:ext cx="2646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/>
              <a:t>https://uk.</a:t>
            </a:r>
            <a:r>
              <a:rPr lang="en-GB" sz="1200" b="1" i="1" dirty="0"/>
              <a:t>linkedin</a:t>
            </a:r>
            <a:r>
              <a:rPr lang="en-GB" sz="1200" i="1" dirty="0"/>
              <a:t>.com/in/</a:t>
            </a:r>
            <a:r>
              <a:rPr lang="en-GB" sz="1200" b="1" i="1" dirty="0"/>
              <a:t>billharpley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674292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12776"/>
            <a:ext cx="4038600" cy="48245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776"/>
            <a:ext cx="4038600" cy="48245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1885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12776"/>
            <a:ext cx="3898776" cy="2232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8024" y="1412776"/>
            <a:ext cx="3898776" cy="223224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 marL="1371600" indent="0">
              <a:buNone/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62372" y="3933054"/>
            <a:ext cx="3893604" cy="2323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4"/>
          </p:nvPr>
        </p:nvSpPr>
        <p:spPr>
          <a:xfrm>
            <a:off x="4788024" y="3933055"/>
            <a:ext cx="3870903" cy="23467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325498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+foot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12776"/>
            <a:ext cx="4038600" cy="4176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2776"/>
            <a:ext cx="4038600" cy="4176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62372" y="5733256"/>
            <a:ext cx="8224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Franklin Gothic Medium Cond" panose="020B0606030402020204" pitchFamily="34" charset="0"/>
              </a:rPr>
              <a:t>footnote</a:t>
            </a:r>
            <a:endParaRPr lang="en-GB" sz="2800" dirty="0">
              <a:latin typeface="Franklin Gothic Medium Cond" panose="020B06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450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574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217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F3E86-0E48-48C4-8EA0-720FF9522EEC}" type="datetimeFigureOut">
              <a:rPr lang="en-GB" smtClean="0"/>
              <a:t>20/01/2017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C81E1-2CF4-46C2-88E5-319C7C0516F3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474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2372" y="274638"/>
            <a:ext cx="6779096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2776"/>
            <a:ext cx="8229600" cy="4824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57873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©ASTIUS TECHNOLOGY SYSTEMS LTD 2015-2017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51920" y="6356350"/>
            <a:ext cx="8374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Slide </a:t>
            </a:r>
            <a:fld id="{24DC81E1-2CF4-46C2-88E5-319C7C0516F3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754" y="274638"/>
            <a:ext cx="142875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2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8" r:id="rId3"/>
    <p:sldLayoutId id="2147483667" r:id="rId4"/>
    <p:sldLayoutId id="2147483663" r:id="rId5"/>
    <p:sldLayoutId id="2147483662" r:id="rId6"/>
    <p:sldLayoutId id="2147483669" r:id="rId7"/>
    <p:sldLayoutId id="2147483661" r:id="rId8"/>
    <p:sldLayoutId id="2147483660" r:id="rId9"/>
    <p:sldLayoutId id="2147483652" r:id="rId10"/>
    <p:sldLayoutId id="2147483666" r:id="rId11"/>
    <p:sldLayoutId id="2147483665" r:id="rId12"/>
    <p:sldLayoutId id="2147483664" r:id="rId13"/>
    <p:sldLayoutId id="2147483653" r:id="rId14"/>
    <p:sldLayoutId id="2147483654" r:id="rId15"/>
    <p:sldLayoutId id="2147483655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Franklin Gothic Demi Cond" panose="020B07060304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Franklin Gothic Medium" panose="020B0603020102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Franklin Gothic Medium" panose="020B06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wis721 BT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Swis721 BT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Swis721 BT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etup.com/Self-Driving-and-Autonomous-Vehicles/events/235907769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opengarages.org/handbook/2014_car_hackers_handbook_compressed.pdf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formationisbeautiful.net/visualizations/million-lines-of-code/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utomotiveisac.com/best-practices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nvlpubs.nist.gov/nistpubs/ir/2016/NIST.IR.8151.pdf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aai.blogspot.co.uk/" TargetMode="External"/><Relationship Id="rId2" Type="http://schemas.openxmlformats.org/officeDocument/2006/relationships/hyperlink" Target="http://opengarages.org/index.php/Tools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bugcrowd.com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gi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7584" y="4136938"/>
            <a:ext cx="7772400" cy="1008112"/>
          </a:xfrm>
        </p:spPr>
        <p:txBody>
          <a:bodyPr>
            <a:normAutofit/>
          </a:bodyPr>
          <a:lstStyle/>
          <a:p>
            <a:r>
              <a:rPr lang="en-GB" sz="3900" dirty="0"/>
              <a:t>Connected Cars &amp; Autonomous Vehicles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1800" y="4941168"/>
            <a:ext cx="5899793" cy="648072"/>
          </a:xfrm>
        </p:spPr>
        <p:txBody>
          <a:bodyPr/>
          <a:lstStyle/>
          <a:p>
            <a:r>
              <a:rPr lang="en-GB" i="1" dirty="0">
                <a:solidFill>
                  <a:srgbClr val="C00000"/>
                </a:solidFill>
              </a:rPr>
              <a:t>The current state of Cybersecurity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268760"/>
            <a:ext cx="5076056" cy="286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00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132856"/>
            <a:ext cx="2112665" cy="2112665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5856" y="2276872"/>
            <a:ext cx="4536504" cy="3744416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</a:rPr>
              <a:t>A presentation given to the</a:t>
            </a:r>
            <a:b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</a:rPr>
            </a:br>
            <a: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  <a:hlinkClick r:id="rId3"/>
              </a:rPr>
              <a:t>Self Driving and Autonomous</a:t>
            </a:r>
            <a:b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  <a:hlinkClick r:id="rId3"/>
              </a:rPr>
            </a:br>
            <a: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  <a:hlinkClick r:id="rId3"/>
              </a:rPr>
              <a:t> Vehicle Technology</a:t>
            </a:r>
            <a: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</a:rPr>
              <a:t>  meetup </a:t>
            </a:r>
            <a:b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</a:rPr>
            </a:br>
            <a: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</a:rPr>
              <a:t>group at the Brighton Digital</a:t>
            </a:r>
            <a:b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</a:rPr>
            </a:br>
            <a: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</a:rPr>
              <a:t> Catapult on January 20</a:t>
            </a:r>
            <a:r>
              <a:rPr lang="en-GB" sz="2000" baseline="30000" dirty="0">
                <a:latin typeface="Gothic720 BT" panose="020C0603020203020204" pitchFamily="34" charset="0"/>
                <a:cs typeface="FrankRuehl" panose="020E0503060101010101" pitchFamily="34" charset="-79"/>
              </a:rPr>
              <a:t>th</a:t>
            </a:r>
            <a: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</a:rPr>
              <a:t> 2017</a:t>
            </a:r>
          </a:p>
          <a:p>
            <a:pPr>
              <a:spcBef>
                <a:spcPts val="1200"/>
              </a:spcBef>
            </a:pPr>
            <a:r>
              <a:rPr lang="en-GB" sz="2000" dirty="0">
                <a:latin typeface="Gothic720 BT" panose="020C0603020203020204" pitchFamily="34" charset="0"/>
                <a:cs typeface="FrankRuehl" panose="020E0503060101010101" pitchFamily="34" charset="-79"/>
              </a:rPr>
              <a:t>Provides high-level overview of issues around cybersecurity of Connected Cars and what automotive industry is doing to address the problem</a:t>
            </a:r>
          </a:p>
        </p:txBody>
      </p:sp>
    </p:spTree>
    <p:extLst>
      <p:ext uri="{BB962C8B-B14F-4D97-AF65-F5344CB8AC3E}">
        <p14:creationId xmlns:p14="http://schemas.microsoft.com/office/powerpoint/2010/main" val="43577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About your presenter</a:t>
            </a:r>
          </a:p>
        </p:txBody>
      </p:sp>
    </p:spTree>
    <p:extLst>
      <p:ext uri="{BB962C8B-B14F-4D97-AF65-F5344CB8AC3E}">
        <p14:creationId xmlns:p14="http://schemas.microsoft.com/office/powerpoint/2010/main" val="1626258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383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story so far …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555" y="1196752"/>
            <a:ext cx="5990733" cy="4379534"/>
          </a:xfrm>
        </p:spPr>
      </p:pic>
      <p:sp>
        <p:nvSpPr>
          <p:cNvPr id="5" name="TextBox 4"/>
          <p:cNvSpPr txBox="1"/>
          <p:nvPr/>
        </p:nvSpPr>
        <p:spPr>
          <a:xfrm>
            <a:off x="971600" y="5576286"/>
            <a:ext cx="7056784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Society of Automotive Engineers</a:t>
            </a:r>
            <a:r>
              <a:rPr lang="en-GB" dirty="0"/>
              <a:t>:  standard </a:t>
            </a:r>
            <a:r>
              <a:rPr lang="en-GB" b="1" dirty="0"/>
              <a:t>SAE J3016 </a:t>
            </a:r>
            <a:r>
              <a:rPr lang="en-GB" dirty="0"/>
              <a:t>defines classes of </a:t>
            </a:r>
            <a:br>
              <a:rPr lang="en-GB" dirty="0"/>
            </a:br>
            <a:r>
              <a:rPr lang="en-GB" dirty="0"/>
              <a:t>vehicle automation</a:t>
            </a:r>
            <a:r>
              <a:rPr lang="en-GB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672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Levels of Vehicle Automation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08357"/>
            <a:ext cx="8229600" cy="4777911"/>
          </a:xfrm>
        </p:spPr>
      </p:pic>
    </p:spTree>
    <p:extLst>
      <p:ext uri="{BB962C8B-B14F-4D97-AF65-F5344CB8AC3E}">
        <p14:creationId xmlns:p14="http://schemas.microsoft.com/office/powerpoint/2010/main" val="3240105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Technology Timeline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34" y="1630684"/>
            <a:ext cx="7709190" cy="4246587"/>
          </a:xfrm>
        </p:spPr>
      </p:pic>
      <p:sp>
        <p:nvSpPr>
          <p:cNvPr id="5" name="TextBox 4"/>
          <p:cNvSpPr txBox="1"/>
          <p:nvPr/>
        </p:nvSpPr>
        <p:spPr>
          <a:xfrm>
            <a:off x="822412" y="5949280"/>
            <a:ext cx="7566012" cy="36933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Multiple generations of technology will co-exist on our roads for many years.</a:t>
            </a:r>
          </a:p>
        </p:txBody>
      </p:sp>
    </p:spTree>
    <p:extLst>
      <p:ext uri="{BB962C8B-B14F-4D97-AF65-F5344CB8AC3E}">
        <p14:creationId xmlns:p14="http://schemas.microsoft.com/office/powerpoint/2010/main" val="3351438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Recent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SAE J3016</a:t>
            </a:r>
            <a:r>
              <a:rPr lang="en-GB" sz="2400" dirty="0">
                <a:solidFill>
                  <a:srgbClr val="0070C0"/>
                </a:solidFill>
              </a:rPr>
              <a:t> has been formally validated by the US Department of Transport.</a:t>
            </a:r>
          </a:p>
          <a:p>
            <a:r>
              <a:rPr lang="en-GB" sz="2400" b="1" dirty="0"/>
              <a:t> </a:t>
            </a:r>
            <a:r>
              <a:rPr lang="en-GB" sz="2400" b="1" dirty="0">
                <a:solidFill>
                  <a:srgbClr val="FF3399"/>
                </a:solidFill>
              </a:rPr>
              <a:t>Tesla Motors Inc</a:t>
            </a:r>
            <a:r>
              <a:rPr lang="en-GB" sz="2400" dirty="0">
                <a:solidFill>
                  <a:srgbClr val="FF3399"/>
                </a:solidFill>
              </a:rPr>
              <a:t>., BMW, Ford Motor Co. and Volvo Cars have all promised to have fully autonomous cars on the road within five years. </a:t>
            </a:r>
          </a:p>
          <a:p>
            <a:r>
              <a:rPr lang="en-GB" sz="2400" dirty="0"/>
              <a:t> </a:t>
            </a:r>
            <a:r>
              <a:rPr lang="en-GB" sz="2400" dirty="0">
                <a:solidFill>
                  <a:srgbClr val="00B050"/>
                </a:solidFill>
              </a:rPr>
              <a:t> </a:t>
            </a:r>
            <a:r>
              <a:rPr lang="en-GB" sz="2400" b="1" dirty="0">
                <a:solidFill>
                  <a:srgbClr val="00B050"/>
                </a:solidFill>
              </a:rPr>
              <a:t>Alphabet Inc.’s </a:t>
            </a:r>
            <a:r>
              <a:rPr lang="en-GB" sz="2400" dirty="0">
                <a:solidFill>
                  <a:srgbClr val="00B050"/>
                </a:solidFill>
              </a:rPr>
              <a:t>(Google) autonomous test vehicles will surpass 3 million test miles on public roads by May 2017</a:t>
            </a:r>
            <a:r>
              <a:rPr lang="en-GB" sz="2400" dirty="0"/>
              <a:t>.</a:t>
            </a:r>
          </a:p>
          <a:p>
            <a:r>
              <a:rPr lang="en-GB" sz="2400" b="1" dirty="0">
                <a:solidFill>
                  <a:srgbClr val="FF6600"/>
                </a:solidFill>
              </a:rPr>
              <a:t>China </a:t>
            </a:r>
            <a:r>
              <a:rPr lang="en-GB" sz="2400" dirty="0">
                <a:solidFill>
                  <a:srgbClr val="FF6600"/>
                </a:solidFill>
              </a:rPr>
              <a:t>has set a goal for 10-20% of vehicles to be highly autonomous by 2025, and for 10% of cars to be fully</a:t>
            </a:r>
            <a:br>
              <a:rPr lang="en-GB" sz="2400" dirty="0">
                <a:solidFill>
                  <a:srgbClr val="FF6600"/>
                </a:solidFill>
              </a:rPr>
            </a:br>
            <a:r>
              <a:rPr lang="en-GB" sz="2400" dirty="0">
                <a:solidFill>
                  <a:srgbClr val="FF6600"/>
                </a:solidFill>
              </a:rPr>
              <a:t>self-driving in 2030. </a:t>
            </a:r>
          </a:p>
          <a:p>
            <a:r>
              <a:rPr lang="en-GB" sz="2400" b="1" dirty="0">
                <a:solidFill>
                  <a:srgbClr val="00B0F0"/>
                </a:solidFill>
              </a:rPr>
              <a:t>Nvidia </a:t>
            </a:r>
            <a:r>
              <a:rPr lang="en-GB" sz="2400" dirty="0">
                <a:solidFill>
                  <a:srgbClr val="00B0F0"/>
                </a:solidFill>
              </a:rPr>
              <a:t>and Mercedes-Benz announced intention to develop “cognitive car” using embedded AI technology.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67464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4294967295"/>
          </p:nvPr>
        </p:nvSpPr>
        <p:spPr>
          <a:xfrm>
            <a:off x="827584" y="2708920"/>
            <a:ext cx="7560840" cy="72008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Vehicle Cybersecurity: problem description</a:t>
            </a:r>
          </a:p>
        </p:txBody>
      </p:sp>
    </p:spTree>
    <p:extLst>
      <p:ext uri="{BB962C8B-B14F-4D97-AF65-F5344CB8AC3E}">
        <p14:creationId xmlns:p14="http://schemas.microsoft.com/office/powerpoint/2010/main" val="1654250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Attackers have many 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27138"/>
            <a:ext cx="4038600" cy="4824536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C00000"/>
                </a:solidFill>
              </a:rPr>
              <a:t>Criminal gangs intent on:</a:t>
            </a:r>
          </a:p>
          <a:p>
            <a:pPr lvl="1"/>
            <a:r>
              <a:rPr lang="en-GB" dirty="0">
                <a:solidFill>
                  <a:srgbClr val="C00000"/>
                </a:solidFill>
              </a:rPr>
              <a:t>Stealing </a:t>
            </a:r>
            <a:r>
              <a:rPr lang="en-GB" b="1" dirty="0">
                <a:solidFill>
                  <a:srgbClr val="C00000"/>
                </a:solidFill>
              </a:rPr>
              <a:t>Personally Identifiable Information </a:t>
            </a:r>
            <a:r>
              <a:rPr lang="en-GB" sz="2200" dirty="0">
                <a:solidFill>
                  <a:srgbClr val="C00000"/>
                </a:solidFill>
              </a:rPr>
              <a:t>(e.g. Credit Card numbers)</a:t>
            </a:r>
          </a:p>
          <a:p>
            <a:pPr lvl="1"/>
            <a:r>
              <a:rPr lang="en-GB" sz="2200" dirty="0">
                <a:solidFill>
                  <a:srgbClr val="C00000"/>
                </a:solidFill>
              </a:rPr>
              <a:t>Deploying “ransomware”</a:t>
            </a:r>
          </a:p>
          <a:p>
            <a:r>
              <a:rPr lang="en-GB" dirty="0">
                <a:solidFill>
                  <a:srgbClr val="0070C0"/>
                </a:solidFill>
              </a:rPr>
              <a:t>State-sponsored actors and politically motivated groups</a:t>
            </a:r>
          </a:p>
          <a:p>
            <a:r>
              <a:rPr lang="en-GB" dirty="0">
                <a:solidFill>
                  <a:schemeClr val="accent4">
                    <a:lumMod val="75000"/>
                  </a:schemeClr>
                </a:solidFill>
              </a:rPr>
              <a:t>Small-time crooks intent on stealing vehicles</a:t>
            </a:r>
          </a:p>
          <a:p>
            <a:r>
              <a:rPr lang="en-GB" sz="2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“Curiosity driven” attacks (e.g. by car owners)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396682"/>
            <a:ext cx="4038600" cy="4038600"/>
          </a:xfrm>
        </p:spPr>
      </p:pic>
      <p:sp>
        <p:nvSpPr>
          <p:cNvPr id="6" name="TextBox 5"/>
          <p:cNvSpPr txBox="1"/>
          <p:nvPr/>
        </p:nvSpPr>
        <p:spPr>
          <a:xfrm>
            <a:off x="472143" y="5980638"/>
            <a:ext cx="806489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hlinkClick r:id="rId3"/>
              </a:rPr>
              <a:t>http://opengarages.org/handbook/2014_car_hackers_handbook_compressed.pdf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2232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It’s Complicated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227138"/>
            <a:ext cx="4038600" cy="4362102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rgbClr val="0070C0"/>
                </a:solidFill>
              </a:rPr>
              <a:t>Example: the new Ford F150 pickup has 150 million lines of code</a:t>
            </a:r>
          </a:p>
          <a:p>
            <a:r>
              <a:rPr lang="en-GB" dirty="0"/>
              <a:t>Each vehicle has multiple </a:t>
            </a:r>
            <a:r>
              <a:rPr lang="en-GB" dirty="0">
                <a:solidFill>
                  <a:srgbClr val="FF6600"/>
                </a:solidFill>
              </a:rPr>
              <a:t>Electronic Control Units (ECUs) </a:t>
            </a:r>
            <a:r>
              <a:rPr lang="en-GB" dirty="0"/>
              <a:t>from different vendors</a:t>
            </a:r>
          </a:p>
          <a:p>
            <a:r>
              <a:rPr lang="en-GB" dirty="0">
                <a:solidFill>
                  <a:srgbClr val="FF0066"/>
                </a:solidFill>
              </a:rPr>
              <a:t>Presents multiple attack points for hackers</a:t>
            </a:r>
          </a:p>
          <a:p>
            <a:r>
              <a:rPr lang="en-GB" i="1" dirty="0">
                <a:solidFill>
                  <a:srgbClr val="0070C0"/>
                </a:solidFill>
              </a:rPr>
              <a:t>Complexity is the enemy of security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704" y="1412776"/>
            <a:ext cx="4104457" cy="2736304"/>
          </a:xfrm>
        </p:spPr>
      </p:pic>
      <p:sp>
        <p:nvSpPr>
          <p:cNvPr id="7" name="TextBox 6"/>
          <p:cNvSpPr txBox="1"/>
          <p:nvPr/>
        </p:nvSpPr>
        <p:spPr>
          <a:xfrm>
            <a:off x="827584" y="5805264"/>
            <a:ext cx="7560840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hlinkClick r:id="rId3"/>
              </a:rPr>
              <a:t>http://www.informationisbeautiful.net/visualizations/million-lines-of-code/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2819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Risks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37382018"/>
              </p:ext>
            </p:extLst>
          </p:nvPr>
        </p:nvGraphicFramePr>
        <p:xfrm>
          <a:off x="493033" y="1556792"/>
          <a:ext cx="7715250" cy="4685465"/>
        </p:xfrm>
        <a:graphic>
          <a:graphicData uri="http://schemas.openxmlformats.org/drawingml/2006/table">
            <a:tbl>
              <a:tblPr bandRow="1" bandCol="1">
                <a:tableStyleId>{18603FDC-E32A-4AB5-989C-0864C3EAD2B8}</a:tableStyleId>
              </a:tblPr>
              <a:tblGrid>
                <a:gridCol w="3322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2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8894">
                <a:tc>
                  <a:txBody>
                    <a:bodyPr/>
                    <a:lstStyle/>
                    <a:p>
                      <a:r>
                        <a:rPr lang="en-GB" dirty="0">
                          <a:latin typeface="Franklin Gothic Demi Cond" panose="020B0706030402020204" pitchFamily="34" charset="0"/>
                        </a:rPr>
                        <a:t>Unauthorised access to vehicles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FrankRuehl" panose="020E0503060101010101" pitchFamily="34" charset="-79"/>
                          <a:cs typeface="FrankRuehl" panose="020E0503060101010101" pitchFamily="34" charset="-79"/>
                        </a:rPr>
                        <a:t>Keyless</a:t>
                      </a:r>
                      <a:r>
                        <a:rPr lang="en-GB" baseline="0" dirty="0">
                          <a:latin typeface="FrankRuehl" panose="020E0503060101010101" pitchFamily="34" charset="-79"/>
                          <a:cs typeface="FrankRuehl" panose="020E0503060101010101" pitchFamily="34" charset="-79"/>
                        </a:rPr>
                        <a:t> door entry systems use mobile apps or electronic key-fobs</a:t>
                      </a:r>
                      <a:endParaRPr lang="en-GB" dirty="0">
                        <a:latin typeface="FrankRuehl" panose="020E0503060101010101" pitchFamily="34" charset="-79"/>
                        <a:cs typeface="FrankRuehl" panose="020E0503060101010101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305">
                <a:tc>
                  <a:txBody>
                    <a:bodyPr/>
                    <a:lstStyle/>
                    <a:p>
                      <a:r>
                        <a:rPr lang="en-GB" dirty="0">
                          <a:latin typeface="Franklin Gothic Demi Cond" panose="020B0706030402020204" pitchFamily="34" charset="0"/>
                        </a:rPr>
                        <a:t>Theft of personal</a:t>
                      </a:r>
                      <a:r>
                        <a:rPr lang="en-GB" baseline="0" dirty="0">
                          <a:latin typeface="Franklin Gothic Demi Cond" panose="020B0706030402020204" pitchFamily="34" charset="0"/>
                        </a:rPr>
                        <a:t> information</a:t>
                      </a:r>
                      <a:endParaRPr lang="en-GB" dirty="0">
                        <a:latin typeface="Franklin Gothic Demi Cond" panose="020B07060304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FrankRuehl" panose="020E0503060101010101" pitchFamily="34" charset="-79"/>
                          <a:cs typeface="FrankRuehl" panose="020E0503060101010101" pitchFamily="34" charset="-79"/>
                        </a:rPr>
                        <a:t>Owner</a:t>
                      </a:r>
                      <a:r>
                        <a:rPr lang="en-GB" baseline="0" dirty="0">
                          <a:latin typeface="FrankRuehl" panose="020E0503060101010101" pitchFamily="34" charset="-79"/>
                          <a:cs typeface="FrankRuehl" panose="020E0503060101010101" pitchFamily="34" charset="-79"/>
                        </a:rPr>
                        <a:t> details, GPS logs, Credit Card info, etc.</a:t>
                      </a:r>
                      <a:endParaRPr lang="en-GB" dirty="0">
                        <a:latin typeface="FrankRuehl" panose="020E0503060101010101" pitchFamily="34" charset="-79"/>
                        <a:cs typeface="FrankRuehl" panose="020E0503060101010101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478">
                <a:tc>
                  <a:txBody>
                    <a:bodyPr/>
                    <a:lstStyle/>
                    <a:p>
                      <a:r>
                        <a:rPr lang="en-GB" dirty="0">
                          <a:latin typeface="Franklin Gothic Demi Cond" panose="020B0706030402020204" pitchFamily="34" charset="0"/>
                        </a:rPr>
                        <a:t>‘Hijacking’ of</a:t>
                      </a:r>
                      <a:r>
                        <a:rPr lang="en-GB" baseline="0" dirty="0">
                          <a:latin typeface="Franklin Gothic Demi Cond" panose="020B0706030402020204" pitchFamily="34" charset="0"/>
                        </a:rPr>
                        <a:t> individual vehicles</a:t>
                      </a:r>
                      <a:endParaRPr lang="en-GB" dirty="0">
                        <a:latin typeface="Franklin Gothic Demi Cond" panose="020B07060304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FrankRuehl" panose="020E0503060101010101" pitchFamily="34" charset="-79"/>
                          <a:cs typeface="FrankRuehl" panose="020E0503060101010101" pitchFamily="34" charset="-79"/>
                        </a:rPr>
                        <a:t>Feasibility</a:t>
                      </a:r>
                      <a:r>
                        <a:rPr lang="en-GB" baseline="0" dirty="0">
                          <a:latin typeface="FrankRuehl" panose="020E0503060101010101" pitchFamily="34" charset="-79"/>
                          <a:cs typeface="FrankRuehl" panose="020E0503060101010101" pitchFamily="34" charset="-79"/>
                        </a:rPr>
                        <a:t> demonstrated by ‘Jeep hack’ (2015)</a:t>
                      </a:r>
                      <a:endParaRPr lang="en-GB" dirty="0">
                        <a:latin typeface="FrankRuehl" panose="020E0503060101010101" pitchFamily="34" charset="-79"/>
                        <a:cs typeface="FrankRuehl" panose="020E0503060101010101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8894">
                <a:tc>
                  <a:txBody>
                    <a:bodyPr/>
                    <a:lstStyle/>
                    <a:p>
                      <a:r>
                        <a:rPr lang="en-GB" dirty="0">
                          <a:latin typeface="Franklin Gothic Demi Cond" panose="020B0706030402020204" pitchFamily="34" charset="0"/>
                        </a:rPr>
                        <a:t>Creation</a:t>
                      </a:r>
                      <a:r>
                        <a:rPr lang="en-GB" baseline="0" dirty="0">
                          <a:latin typeface="Franklin Gothic Demi Cond" panose="020B0706030402020204" pitchFamily="34" charset="0"/>
                        </a:rPr>
                        <a:t> of mobile ‘bots’ </a:t>
                      </a:r>
                      <a:endParaRPr lang="en-GB" dirty="0">
                        <a:latin typeface="Franklin Gothic Demi Cond" panose="020B07060304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FrankRuehl" panose="020E0503060101010101" pitchFamily="34" charset="-79"/>
                          <a:cs typeface="FrankRuehl" panose="020E0503060101010101" pitchFamily="34" charset="-79"/>
                        </a:rPr>
                        <a:t>Vehicle</a:t>
                      </a:r>
                      <a:r>
                        <a:rPr lang="en-GB" baseline="0" dirty="0">
                          <a:latin typeface="FrankRuehl" panose="020E0503060101010101" pitchFamily="34" charset="-79"/>
                          <a:cs typeface="FrankRuehl" panose="020E0503060101010101" pitchFamily="34" charset="-79"/>
                        </a:rPr>
                        <a:t> software compromised by hackers and used to launch cyber-attacks</a:t>
                      </a:r>
                      <a:endParaRPr lang="en-GB" dirty="0">
                        <a:latin typeface="FrankRuehl" panose="020E0503060101010101" pitchFamily="34" charset="-79"/>
                        <a:cs typeface="FrankRuehl" panose="020E0503060101010101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8894">
                <a:tc>
                  <a:txBody>
                    <a:bodyPr/>
                    <a:lstStyle/>
                    <a:p>
                      <a:r>
                        <a:rPr lang="en-GB" dirty="0">
                          <a:latin typeface="Franklin Gothic Demi Cond" panose="020B0706030402020204" pitchFamily="34" charset="0"/>
                        </a:rPr>
                        <a:t>Installation</a:t>
                      </a:r>
                      <a:r>
                        <a:rPr lang="en-GB" baseline="0" dirty="0">
                          <a:latin typeface="Franklin Gothic Demi Cond" panose="020B0706030402020204" pitchFamily="34" charset="0"/>
                        </a:rPr>
                        <a:t> of ‘ransomware’</a:t>
                      </a:r>
                      <a:endParaRPr lang="en-GB" dirty="0">
                        <a:latin typeface="Franklin Gothic Demi Cond" panose="020B0706030402020204" pitchFamily="34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FrankRuehl" panose="020E0503060101010101" pitchFamily="34" charset="-79"/>
                          <a:cs typeface="FrankRuehl" panose="020E0503060101010101" pitchFamily="34" charset="-79"/>
                        </a:rPr>
                        <a:t>Victims must pay</a:t>
                      </a:r>
                      <a:r>
                        <a:rPr lang="en-GB" baseline="0" dirty="0">
                          <a:latin typeface="FrankRuehl" panose="020E0503060101010101" pitchFamily="34" charset="-79"/>
                          <a:cs typeface="FrankRuehl" panose="020E0503060101010101" pitchFamily="34" charset="-79"/>
                        </a:rPr>
                        <a:t> money to regain control of their vehicles</a:t>
                      </a:r>
                      <a:endParaRPr lang="en-GB" dirty="0">
                        <a:latin typeface="FrankRuehl" panose="020E0503060101010101" pitchFamily="34" charset="-79"/>
                        <a:cs typeface="FrankRuehl" panose="020E0503060101010101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7605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Threats to Infrastructure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570998"/>
            <a:ext cx="3814188" cy="2506073"/>
          </a:xfrm>
        </p:spPr>
      </p:pic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323528" y="1570999"/>
            <a:ext cx="4038600" cy="473832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Franklin Gothic Medium" panose="020B0603020102020204" pitchFamily="34" charset="0"/>
              </a:rPr>
              <a:t>Cyber-attacks on infrastructure could cause:</a:t>
            </a:r>
          </a:p>
          <a:p>
            <a:r>
              <a:rPr lang="en-GB" sz="2400" dirty="0"/>
              <a:t>Traffic gridlock</a:t>
            </a:r>
          </a:p>
          <a:p>
            <a:r>
              <a:rPr lang="en-GB" sz="2400" dirty="0"/>
              <a:t>Economic losses</a:t>
            </a:r>
          </a:p>
          <a:p>
            <a:r>
              <a:rPr lang="en-GB" sz="2400" dirty="0"/>
              <a:t>Accidents and loss of life</a:t>
            </a:r>
          </a:p>
          <a:p>
            <a:r>
              <a:rPr lang="en-GB" sz="2400" dirty="0"/>
              <a:t>Massive insurance claims</a:t>
            </a:r>
          </a:p>
          <a:p>
            <a:r>
              <a:rPr lang="en-GB" sz="2400" dirty="0"/>
              <a:t>Political repercussions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2040" y="4221088"/>
            <a:ext cx="3960440" cy="212365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>
                <a:latin typeface="Franklin Gothic Medium" panose="020B0603020102020204" pitchFamily="34" charset="0"/>
              </a:rPr>
              <a:t>Need to think in broad terms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GB" dirty="0"/>
              <a:t>Private vehicles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GB" dirty="0"/>
              <a:t>Taxis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GB" dirty="0"/>
              <a:t>Buses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GB" dirty="0"/>
              <a:t>Trams and light rail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GB" dirty="0"/>
              <a:t>Pedestrians and cyclists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GB" dirty="0"/>
              <a:t>Emergency services vehicles</a:t>
            </a:r>
          </a:p>
        </p:txBody>
      </p:sp>
    </p:spTree>
    <p:extLst>
      <p:ext uri="{BB962C8B-B14F-4D97-AF65-F5344CB8AC3E}">
        <p14:creationId xmlns:p14="http://schemas.microsoft.com/office/powerpoint/2010/main" val="457409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4294967295"/>
          </p:nvPr>
        </p:nvSpPr>
        <p:spPr>
          <a:xfrm>
            <a:off x="827584" y="2708920"/>
            <a:ext cx="7560840" cy="72008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Vehicle Cybersecurity: emerging solutions</a:t>
            </a:r>
          </a:p>
        </p:txBody>
      </p:sp>
    </p:spTree>
    <p:extLst>
      <p:ext uri="{BB962C8B-B14F-4D97-AF65-F5344CB8AC3E}">
        <p14:creationId xmlns:p14="http://schemas.microsoft.com/office/powerpoint/2010/main" val="2604122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SAE  J3061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“</a:t>
            </a:r>
            <a:r>
              <a:rPr lang="en-GB" b="1" dirty="0">
                <a:solidFill>
                  <a:srgbClr val="FF3399"/>
                </a:solidFill>
              </a:rPr>
              <a:t>Cybersecurity Guidebook for Cyber-Physical Vehicle Systems” </a:t>
            </a:r>
            <a:r>
              <a:rPr lang="en-GB" b="1" dirty="0"/>
              <a:t>– published January 2016</a:t>
            </a:r>
          </a:p>
          <a:p>
            <a:r>
              <a:rPr lang="en-GB" dirty="0"/>
              <a:t>Provides a framework to help organizations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>
                <a:solidFill>
                  <a:srgbClr val="00B050"/>
                </a:solidFill>
              </a:rPr>
              <a:t>Identify and assess cybersecurity threats</a:t>
            </a:r>
            <a:r>
              <a:rPr lang="en-GB" dirty="0"/>
              <a:t> related to vehicles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>
                <a:solidFill>
                  <a:srgbClr val="00B050"/>
                </a:solidFill>
              </a:rPr>
              <a:t>Design cybersecurity into cyber-physical vehicle systems</a:t>
            </a:r>
            <a:r>
              <a:rPr lang="en-GB" dirty="0"/>
              <a:t> throughout the entire development lifecycle process.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Provides the </a:t>
            </a:r>
            <a:r>
              <a:rPr lang="en-GB" dirty="0">
                <a:solidFill>
                  <a:srgbClr val="00B050"/>
                </a:solidFill>
              </a:rPr>
              <a:t>foundation for further standards</a:t>
            </a:r>
            <a:r>
              <a:rPr lang="en-GB" dirty="0"/>
              <a:t> development. </a:t>
            </a:r>
            <a:endParaRPr lang="en-GB" b="1" dirty="0"/>
          </a:p>
          <a:p>
            <a:pPr lvl="1"/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782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OTA Updates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“Over-the-air” software updates are crucial part of strategy</a:t>
            </a:r>
          </a:p>
          <a:p>
            <a:r>
              <a:rPr lang="en-GB" dirty="0">
                <a:solidFill>
                  <a:srgbClr val="FF0066"/>
                </a:solidFill>
              </a:rPr>
              <a:t>Already implemented by vendors such as Tesla Motors</a:t>
            </a:r>
          </a:p>
          <a:p>
            <a:r>
              <a:rPr lang="en-GB" dirty="0"/>
              <a:t>Needs to be carefully implemented else OTA service can be hacked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412776"/>
            <a:ext cx="3852649" cy="2563763"/>
          </a:xfrm>
        </p:spPr>
      </p:pic>
    </p:spTree>
    <p:extLst>
      <p:ext uri="{BB962C8B-B14F-4D97-AF65-F5344CB8AC3E}">
        <p14:creationId xmlns:p14="http://schemas.microsoft.com/office/powerpoint/2010/main" val="262756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Sharing of Expertise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>
                <a:solidFill>
                  <a:srgbClr val="FF3399"/>
                </a:solidFill>
              </a:rPr>
              <a:t>Automotive Information Sharing</a:t>
            </a:r>
            <a:br>
              <a:rPr lang="en-GB" b="1" dirty="0">
                <a:solidFill>
                  <a:srgbClr val="FF3399"/>
                </a:solidFill>
              </a:rPr>
            </a:br>
            <a:r>
              <a:rPr lang="en-GB" b="1" dirty="0">
                <a:solidFill>
                  <a:srgbClr val="FF3399"/>
                </a:solidFill>
              </a:rPr>
              <a:t>Advisory Centre (Auto-ISAC )</a:t>
            </a:r>
            <a:endParaRPr lang="en-GB" dirty="0">
              <a:solidFill>
                <a:srgbClr val="FF3399"/>
              </a:solidFill>
            </a:endParaRP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GB" dirty="0"/>
              <a:t>Established by the Auto industry to facilitate development of cybersecurity expertise within Automotive supply chain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GB" sz="2600" b="1" dirty="0">
                <a:solidFill>
                  <a:srgbClr val="00B0F0"/>
                </a:solidFill>
                <a:latin typeface="FrankRuehl" panose="020E0503060101010101" pitchFamily="34" charset="-79"/>
                <a:cs typeface="FrankRuehl" panose="020E0503060101010101" pitchFamily="34" charset="-79"/>
              </a:rPr>
              <a:t>“An industry-operated environment created to enhance cyber security awareness and coordination across the global automotive industry”</a:t>
            </a:r>
            <a:endParaRPr lang="en-GB" dirty="0"/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GB" dirty="0"/>
              <a:t>Published set of ‘Best Practices’ for automotive cybersecurity in July 2016</a:t>
            </a:r>
          </a:p>
          <a:p>
            <a:pPr lvl="2"/>
            <a:r>
              <a:rPr lang="en-GB" dirty="0">
                <a:hlinkClick r:id="rId2"/>
              </a:rPr>
              <a:t>https://www.automotiveisac.com/best-practices/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3917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/>
              <a:t>    Improve Software Quality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316564"/>
            <a:ext cx="3898776" cy="4200668"/>
          </a:xfrm>
          <a:solidFill>
            <a:schemeClr val="bg2">
              <a:lumMod val="50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chemeClr val="bg1"/>
                </a:solidFill>
              </a:rPr>
              <a:t>Difficult to accurately estimate extent to which software code may deemed ‘buggy’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GB" dirty="0">
                <a:solidFill>
                  <a:schemeClr val="bg1"/>
                </a:solidFill>
              </a:rPr>
              <a:t>Perhaps 1 bug in every 1000 lines of code ??</a:t>
            </a:r>
          </a:p>
          <a:p>
            <a:r>
              <a:rPr lang="en-GB" dirty="0">
                <a:solidFill>
                  <a:schemeClr val="bg1"/>
                </a:solidFill>
              </a:rPr>
              <a:t>Major initiatives designed to improve software quality 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NIST 8151 ‘</a:t>
            </a:r>
            <a:r>
              <a:rPr lang="en-GB" i="1" dirty="0">
                <a:solidFill>
                  <a:schemeClr val="bg1"/>
                </a:solidFill>
              </a:rPr>
              <a:t>Dramatically Reducing Software Vulnerabilities</a:t>
            </a:r>
            <a:r>
              <a:rPr lang="en-GB" dirty="0">
                <a:solidFill>
                  <a:schemeClr val="bg1"/>
                </a:solidFill>
              </a:rPr>
              <a:t>’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84784"/>
            <a:ext cx="4038600" cy="2680161"/>
          </a:xfrm>
        </p:spPr>
      </p:pic>
      <p:sp>
        <p:nvSpPr>
          <p:cNvPr id="6" name="TextBox 5"/>
          <p:cNvSpPr txBox="1"/>
          <p:nvPr/>
        </p:nvSpPr>
        <p:spPr>
          <a:xfrm>
            <a:off x="4572000" y="4293096"/>
            <a:ext cx="3780420" cy="147732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latin typeface="Franklin Gothic Demi Cond" panose="020B0706030402020204" pitchFamily="34" charset="0"/>
              </a:rPr>
              <a:t>September 2016</a:t>
            </a:r>
          </a:p>
          <a:p>
            <a:r>
              <a:rPr lang="en-GB" dirty="0">
                <a:latin typeface="Swis721 BT" panose="020B0504020202020204" pitchFamily="34" charset="0"/>
              </a:rPr>
              <a:t>General Motors announced recall</a:t>
            </a:r>
            <a:br>
              <a:rPr lang="en-GB" dirty="0">
                <a:latin typeface="Swis721 BT" panose="020B0504020202020204" pitchFamily="34" charset="0"/>
              </a:rPr>
            </a:br>
            <a:r>
              <a:rPr lang="en-GB" dirty="0">
                <a:latin typeface="Swis721 BT" panose="020B0504020202020204" pitchFamily="34" charset="0"/>
              </a:rPr>
              <a:t>of 3.6 million vehicles after fear that  </a:t>
            </a:r>
          </a:p>
          <a:p>
            <a:r>
              <a:rPr lang="en-GB" dirty="0">
                <a:latin typeface="Swis721 BT" panose="020B0504020202020204" pitchFamily="34" charset="0"/>
              </a:rPr>
              <a:t>air-bags may fail to deploy due to software fault</a:t>
            </a:r>
            <a:r>
              <a:rPr lang="en-GB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1580" y="5949280"/>
            <a:ext cx="756084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NIST 8151  </a:t>
            </a:r>
            <a:r>
              <a:rPr lang="en-GB" dirty="0">
                <a:hlinkClick r:id="rId3"/>
              </a:rPr>
              <a:t>http://nvlpubs.nist.gov/nistpubs/ir/2016/NIST.IR.8151.pdf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3015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17"/>
          <p:cNvSpPr/>
          <p:nvPr/>
        </p:nvSpPr>
        <p:spPr>
          <a:xfrm>
            <a:off x="6156176" y="1628800"/>
            <a:ext cx="2448272" cy="3281982"/>
          </a:xfrm>
          <a:prstGeom prst="roundRect">
            <a:avLst/>
          </a:prstGeom>
          <a:solidFill>
            <a:srgbClr val="EDF95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ounded Rectangle 15"/>
          <p:cNvSpPr/>
          <p:nvPr/>
        </p:nvSpPr>
        <p:spPr>
          <a:xfrm>
            <a:off x="3419872" y="1628801"/>
            <a:ext cx="2309371" cy="3168352"/>
          </a:xfrm>
          <a:prstGeom prst="round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13" name="Rounded Rectangle 12"/>
          <p:cNvSpPr/>
          <p:nvPr/>
        </p:nvSpPr>
        <p:spPr>
          <a:xfrm>
            <a:off x="485699" y="1628800"/>
            <a:ext cx="2247764" cy="32819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 Source Activities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65874" y="1772816"/>
            <a:ext cx="2098576" cy="10081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Open source</a:t>
            </a:r>
            <a:b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GB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hardware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3419872" y="1700808"/>
            <a:ext cx="2160240" cy="864096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</a:rPr>
              <a:t>Open source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      code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14"/>
          </p:nvPr>
        </p:nvSpPr>
        <p:spPr>
          <a:xfrm>
            <a:off x="6300192" y="1723829"/>
            <a:ext cx="2160240" cy="9361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Bug Bounty</a:t>
            </a:r>
            <a:br>
              <a:rPr lang="en-GB" dirty="0"/>
            </a:br>
            <a:r>
              <a:rPr lang="en-GB" dirty="0"/>
              <a:t>programmes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032" y="2469572"/>
            <a:ext cx="1507511" cy="160043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8000" dirty="0"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ontAwesome" pitchFamily="2" charset="0"/>
              </a:rPr>
              <a:t></a:t>
            </a:r>
            <a:r>
              <a:rPr lang="en-GB" dirty="0"/>
              <a:t> </a:t>
            </a:r>
            <a:br>
              <a:rPr lang="en-GB" dirty="0"/>
            </a:br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493866" y="4021925"/>
            <a:ext cx="2242592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hlinkClick r:id="rId2"/>
              </a:rPr>
              <a:t>http://opengarages.org/</a:t>
            </a:r>
            <a:br>
              <a:rPr lang="en-GB" sz="1600" dirty="0">
                <a:hlinkClick r:id="rId2"/>
              </a:rPr>
            </a:br>
            <a:r>
              <a:rPr lang="en-GB" sz="1600" dirty="0">
                <a:hlinkClick r:id="rId2"/>
              </a:rPr>
              <a:t>index.php/Tools</a:t>
            </a:r>
            <a:endParaRPr lang="en-GB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3779912" y="2605221"/>
            <a:ext cx="1224136" cy="1446550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8800" dirty="0">
                <a:solidFill>
                  <a:schemeClr val="bg1"/>
                </a:solidFill>
                <a:latin typeface="FontAwesome" pitchFamily="2" charset="0"/>
              </a:rPr>
              <a:t>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7633" y="4051771"/>
            <a:ext cx="2299141" cy="58477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600" dirty="0">
                <a:hlinkClick r:id="rId3"/>
              </a:rPr>
              <a:t>http://commai.blogspot</a:t>
            </a:r>
            <a:br>
              <a:rPr lang="en-GB" sz="1600" dirty="0">
                <a:hlinkClick r:id="rId3"/>
              </a:rPr>
            </a:br>
            <a:r>
              <a:rPr lang="en-GB" sz="1600" dirty="0">
                <a:hlinkClick r:id="rId3"/>
              </a:rPr>
              <a:t>.co.uk</a:t>
            </a:r>
            <a:endParaRPr lang="en-GB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6768244" y="2676949"/>
            <a:ext cx="1224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>
                <a:solidFill>
                  <a:srgbClr val="FF0000"/>
                </a:solidFill>
                <a:latin typeface="FontAwesome" pitchFamily="2" charset="0"/>
              </a:rPr>
              <a:t>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8184" y="4185954"/>
            <a:ext cx="2304256" cy="369332"/>
          </a:xfrm>
          <a:prstGeom prst="rect">
            <a:avLst/>
          </a:prstGeom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r>
              <a:rPr lang="en-GB" dirty="0">
                <a:hlinkClick r:id="rId4"/>
              </a:rPr>
              <a:t>https://bugcrowd.com</a:t>
            </a:r>
            <a:endParaRPr lang="en-GB" dirty="0"/>
          </a:p>
        </p:txBody>
      </p:sp>
      <p:sp>
        <p:nvSpPr>
          <p:cNvPr id="19" name="TextBox 18"/>
          <p:cNvSpPr txBox="1"/>
          <p:nvPr/>
        </p:nvSpPr>
        <p:spPr>
          <a:xfrm>
            <a:off x="565874" y="5229200"/>
            <a:ext cx="8110582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Franklin Gothic Medium" panose="020B0603020102020204" pitchFamily="34" charset="0"/>
              </a:rPr>
              <a:t>Significant increase in the level of open source activity in the Automotive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Franklin Gothic Medium" panose="020B0603020102020204" pitchFamily="34" charset="0"/>
              </a:rPr>
              <a:t>Vendors such as Fiat-Chrysler now offer ‘bug bounties’ to developers </a:t>
            </a:r>
          </a:p>
        </p:txBody>
      </p:sp>
    </p:spTree>
    <p:extLst>
      <p:ext uri="{BB962C8B-B14F-4D97-AF65-F5344CB8AC3E}">
        <p14:creationId xmlns:p14="http://schemas.microsoft.com/office/powerpoint/2010/main" val="4183467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4294967295"/>
          </p:nvPr>
        </p:nvSpPr>
        <p:spPr>
          <a:xfrm>
            <a:off x="827584" y="2708920"/>
            <a:ext cx="7560840" cy="720080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Vehicle Cybersecurity: some final thoughts</a:t>
            </a:r>
          </a:p>
        </p:txBody>
      </p:sp>
    </p:spTree>
    <p:extLst>
      <p:ext uri="{BB962C8B-B14F-4D97-AF65-F5344CB8AC3E}">
        <p14:creationId xmlns:p14="http://schemas.microsoft.com/office/powerpoint/2010/main" val="984303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Need for Holistic View</a:t>
            </a:r>
          </a:p>
        </p:txBody>
      </p:sp>
      <p:pic>
        <p:nvPicPr>
          <p:cNvPr id="1027" name="Picture 3" descr="C:\Users\astius\AppData\Local\Microsoft\Windows\Temporary Internet Files\Content.IE5\PGT4ZUBS\c1svg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1520" y="3140968"/>
            <a:ext cx="2353569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astius\AppData\Local\Microsoft\Windows\Temporary Internet Files\Content.IE5\ZQ6KNJ6W\iPhone-5[1]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916832"/>
            <a:ext cx="351495" cy="73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31840" y="2708920"/>
            <a:ext cx="1008112" cy="57606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3131840" y="3501008"/>
            <a:ext cx="1008112" cy="5760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/>
          <p:cNvSpPr/>
          <p:nvPr/>
        </p:nvSpPr>
        <p:spPr>
          <a:xfrm>
            <a:off x="3131840" y="4293096"/>
            <a:ext cx="1008112" cy="5760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33" name="Picture 9" descr="C:\Users\astius\AppData\Local\Microsoft\Windows\Temporary Internet Files\Content.IE5\PGT4ZUBS\cartoon_clouds[1]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386826"/>
            <a:ext cx="2016224" cy="2914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>
            <a:endCxn id="4" idx="1"/>
          </p:cNvCxnSpPr>
          <p:nvPr/>
        </p:nvCxnSpPr>
        <p:spPr>
          <a:xfrm flipV="1">
            <a:off x="2411760" y="2996952"/>
            <a:ext cx="720080" cy="720991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411760" y="3789040"/>
            <a:ext cx="720080" cy="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411760" y="3876003"/>
            <a:ext cx="720080" cy="720080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4" idx="3"/>
          </p:cNvCxnSpPr>
          <p:nvPr/>
        </p:nvCxnSpPr>
        <p:spPr>
          <a:xfrm>
            <a:off x="4139952" y="2996952"/>
            <a:ext cx="936104" cy="504056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0" idx="3"/>
          </p:cNvCxnSpPr>
          <p:nvPr/>
        </p:nvCxnSpPr>
        <p:spPr>
          <a:xfrm>
            <a:off x="4139952" y="3789040"/>
            <a:ext cx="792088" cy="0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1" idx="3"/>
          </p:cNvCxnSpPr>
          <p:nvPr/>
        </p:nvCxnSpPr>
        <p:spPr>
          <a:xfrm flipV="1">
            <a:off x="4139952" y="4077072"/>
            <a:ext cx="864096" cy="504056"/>
          </a:xfrm>
          <a:prstGeom prst="line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030" idx="2"/>
          </p:cNvCxnSpPr>
          <p:nvPr/>
        </p:nvCxnSpPr>
        <p:spPr>
          <a:xfrm>
            <a:off x="1867428" y="2652654"/>
            <a:ext cx="0" cy="776346"/>
          </a:xfrm>
          <a:prstGeom prst="straightConnector1">
            <a:avLst/>
          </a:prstGeom>
          <a:ln w="28575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Flowchart: Magnetic Disk 1023"/>
          <p:cNvSpPr/>
          <p:nvPr/>
        </p:nvSpPr>
        <p:spPr>
          <a:xfrm>
            <a:off x="5652120" y="3184949"/>
            <a:ext cx="373948" cy="43467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25" name="Sun 1024"/>
          <p:cNvSpPr/>
          <p:nvPr/>
        </p:nvSpPr>
        <p:spPr>
          <a:xfrm>
            <a:off x="5580112" y="3918400"/>
            <a:ext cx="553968" cy="590720"/>
          </a:xfrm>
          <a:prstGeom prst="su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34" name="Frame 1033"/>
          <p:cNvSpPr/>
          <p:nvPr/>
        </p:nvSpPr>
        <p:spPr>
          <a:xfrm>
            <a:off x="7596336" y="3284984"/>
            <a:ext cx="1152128" cy="129614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38" name="Straight Connector 1037"/>
          <p:cNvCxnSpPr>
            <a:endCxn id="1034" idx="1"/>
          </p:cNvCxnSpPr>
          <p:nvPr/>
        </p:nvCxnSpPr>
        <p:spPr>
          <a:xfrm>
            <a:off x="6804248" y="3933056"/>
            <a:ext cx="792088" cy="0"/>
          </a:xfrm>
          <a:prstGeom prst="line">
            <a:avLst/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4" name="TextBox 1043"/>
          <p:cNvSpPr txBox="1"/>
          <p:nvPr/>
        </p:nvSpPr>
        <p:spPr>
          <a:xfrm>
            <a:off x="3123038" y="1364575"/>
            <a:ext cx="2924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KEY</a:t>
            </a:r>
          </a:p>
          <a:p>
            <a:r>
              <a:rPr lang="en-GB" dirty="0"/>
              <a:t>V2V  Vehicle-to-Vehicle</a:t>
            </a:r>
          </a:p>
          <a:p>
            <a:r>
              <a:rPr lang="en-GB" dirty="0"/>
              <a:t>V2I   Vehicle-to-Infrastructure</a:t>
            </a:r>
          </a:p>
          <a:p>
            <a:r>
              <a:rPr lang="en-GB" dirty="0"/>
              <a:t>V2P  Vehicle-to-Person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3327726" y="2856161"/>
            <a:ext cx="616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V2V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3347864" y="360437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V2I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3347864" y="4396462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V2P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5317144" y="3564054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Data Storage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5393509" y="4442194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Data Analytics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5303657" y="4869160"/>
            <a:ext cx="1272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FrankRuehl" panose="020E0503060101010101" pitchFamily="34" charset="-79"/>
                <a:cs typeface="FrankRuehl" panose="020E0503060101010101" pitchFamily="34" charset="-79"/>
              </a:rPr>
              <a:t>The Cloud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7308304" y="4653136"/>
            <a:ext cx="15841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FrankRuehl" panose="020E0503060101010101" pitchFamily="34" charset="-79"/>
                <a:cs typeface="FrankRuehl" panose="020E0503060101010101" pitchFamily="34" charset="-79"/>
              </a:rPr>
              <a:t>Back Office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cs typeface="FrankRuehl" panose="020E0503060101010101" pitchFamily="34" charset="-79"/>
              </a:rPr>
              <a:t>Billing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cs typeface="FrankRuehl" panose="020E0503060101010101" pitchFamily="34" charset="-79"/>
              </a:rPr>
              <a:t>Provisioning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600" dirty="0">
                <a:cs typeface="FrankRuehl" panose="020E0503060101010101" pitchFamily="34" charset="-79"/>
              </a:rPr>
              <a:t>Operations</a:t>
            </a:r>
          </a:p>
        </p:txBody>
      </p:sp>
      <p:cxnSp>
        <p:nvCxnSpPr>
          <p:cNvPr id="1056" name="Straight Arrow Connector 1055"/>
          <p:cNvCxnSpPr/>
          <p:nvPr/>
        </p:nvCxnSpPr>
        <p:spPr>
          <a:xfrm>
            <a:off x="683568" y="5877272"/>
            <a:ext cx="8064896" cy="0"/>
          </a:xfrm>
          <a:prstGeom prst="straightConnector1">
            <a:avLst/>
          </a:prstGeom>
          <a:ln w="57150">
            <a:solidFill>
              <a:srgbClr val="FF3399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7" name="TextBox 1056"/>
          <p:cNvSpPr txBox="1"/>
          <p:nvPr/>
        </p:nvSpPr>
        <p:spPr>
          <a:xfrm>
            <a:off x="3289839" y="5877272"/>
            <a:ext cx="2823750" cy="400110"/>
          </a:xfrm>
          <a:prstGeom prst="rect">
            <a:avLst/>
          </a:prstGeom>
          <a:noFill/>
          <a:ln>
            <a:solidFill>
              <a:srgbClr val="FF3399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rgbClr val="FF3399"/>
                </a:solidFill>
                <a:latin typeface="Franklin Gothic Heavy" panose="020B0903020102020204" pitchFamily="34" charset="0"/>
              </a:rPr>
              <a:t>End-to-end Security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467544" y="2688179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Phone-to-Car</a:t>
            </a:r>
          </a:p>
        </p:txBody>
      </p:sp>
      <p:sp>
        <p:nvSpPr>
          <p:cNvPr id="1059" name="6-Point Star 1058"/>
          <p:cNvSpPr/>
          <p:nvPr/>
        </p:nvSpPr>
        <p:spPr>
          <a:xfrm>
            <a:off x="260065" y="4005064"/>
            <a:ext cx="1863663" cy="1800200"/>
          </a:xfrm>
          <a:prstGeom prst="star6">
            <a:avLst/>
          </a:prstGeom>
          <a:solidFill>
            <a:srgbClr val="FFFF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60" name="TextBox 1059"/>
          <p:cNvSpPr txBox="1"/>
          <p:nvPr/>
        </p:nvSpPr>
        <p:spPr>
          <a:xfrm>
            <a:off x="755576" y="4437112"/>
            <a:ext cx="1008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Myriad</a:t>
            </a:r>
            <a:br>
              <a:rPr lang="en-GB" dirty="0"/>
            </a:br>
            <a:r>
              <a:rPr lang="en-GB" dirty="0"/>
              <a:t>of attack points</a:t>
            </a:r>
          </a:p>
        </p:txBody>
      </p:sp>
      <p:sp>
        <p:nvSpPr>
          <p:cNvPr id="34" name="6-Point Star 33"/>
          <p:cNvSpPr/>
          <p:nvPr/>
        </p:nvSpPr>
        <p:spPr>
          <a:xfrm>
            <a:off x="6956809" y="1364575"/>
            <a:ext cx="1863663" cy="1800200"/>
          </a:xfrm>
          <a:prstGeom prst="star6">
            <a:avLst/>
          </a:prstGeom>
          <a:solidFill>
            <a:srgbClr val="FFFF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TextBox 32"/>
          <p:cNvSpPr txBox="1"/>
          <p:nvPr/>
        </p:nvSpPr>
        <p:spPr>
          <a:xfrm>
            <a:off x="7308304" y="1961577"/>
            <a:ext cx="1379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Myriad of</a:t>
            </a:r>
          </a:p>
          <a:p>
            <a:r>
              <a:rPr lang="en-GB" dirty="0"/>
              <a:t>Stakeholders</a:t>
            </a:r>
          </a:p>
        </p:txBody>
      </p:sp>
    </p:spTree>
    <p:extLst>
      <p:ext uri="{BB962C8B-B14F-4D97-AF65-F5344CB8AC3E}">
        <p14:creationId xmlns:p14="http://schemas.microsoft.com/office/powerpoint/2010/main" val="29506063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Distinct Cultures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940380" y="1916832"/>
            <a:ext cx="2767524" cy="2949841"/>
            <a:chOff x="940380" y="1916832"/>
            <a:chExt cx="2767524" cy="2949841"/>
          </a:xfrm>
        </p:grpSpPr>
        <p:sp>
          <p:nvSpPr>
            <p:cNvPr id="4" name="Oval 3"/>
            <p:cNvSpPr/>
            <p:nvPr/>
          </p:nvSpPr>
          <p:spPr>
            <a:xfrm>
              <a:off x="940380" y="1916832"/>
              <a:ext cx="2767524" cy="2949841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87624" y="2987660"/>
              <a:ext cx="2376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Franklin Gothic Demi Cond" panose="020B0706030402020204" pitchFamily="34" charset="0"/>
                </a:rPr>
                <a:t>AUTOMOTIVE INDUSTRY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59632" y="3399383"/>
              <a:ext cx="23042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Accord SF" panose="020B7200000000000000" pitchFamily="34" charset="0"/>
                </a:rPr>
                <a:t>Safety culture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572000" y="1988840"/>
            <a:ext cx="2952328" cy="2949841"/>
            <a:chOff x="4572000" y="1988840"/>
            <a:chExt cx="2952328" cy="2949841"/>
          </a:xfrm>
        </p:grpSpPr>
        <p:sp>
          <p:nvSpPr>
            <p:cNvPr id="6" name="Oval 5"/>
            <p:cNvSpPr/>
            <p:nvPr/>
          </p:nvSpPr>
          <p:spPr>
            <a:xfrm>
              <a:off x="4572000" y="1988840"/>
              <a:ext cx="2767524" cy="2949841"/>
            </a:xfrm>
            <a:prstGeom prst="ellipse">
              <a:avLst/>
            </a:prstGeom>
            <a:solidFill>
              <a:srgbClr val="66FF66"/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88024" y="2996952"/>
              <a:ext cx="2376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latin typeface="Franklin Gothic Demi Cond" panose="020B0706030402020204" pitchFamily="34" charset="0"/>
                </a:rPr>
                <a:t>INFORMATION INDUSTRY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88024" y="3399383"/>
              <a:ext cx="27363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Accord SF" panose="020B7200000000000000" pitchFamily="34" charset="0"/>
                </a:rPr>
                <a:t>Security culture</a:t>
              </a:r>
              <a:endParaRPr lang="en-GB" dirty="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403648" y="5254286"/>
            <a:ext cx="5791860" cy="83099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Major challenge to create a unified culture</a:t>
            </a:r>
            <a:br>
              <a:rPr lang="en-GB" sz="2400" dirty="0"/>
            </a:br>
            <a:r>
              <a:rPr lang="en-GB" sz="2400" dirty="0"/>
              <a:t>for these two very different industries.</a:t>
            </a:r>
          </a:p>
        </p:txBody>
      </p:sp>
    </p:spTree>
    <p:extLst>
      <p:ext uri="{BB962C8B-B14F-4D97-AF65-F5344CB8AC3E}">
        <p14:creationId xmlns:p14="http://schemas.microsoft.com/office/powerpoint/2010/main" val="203680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>
                <a:solidFill>
                  <a:srgbClr val="FF3399"/>
                </a:solidFill>
              </a:rPr>
              <a:t>Industry has started to address issues of cybersecurity of vehicles</a:t>
            </a:r>
          </a:p>
          <a:p>
            <a:pPr lvl="1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Cybersecurity issues for Connected Cars remain poorly understood</a:t>
            </a:r>
          </a:p>
          <a:p>
            <a:pPr lvl="1"/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May take 1-3 years for security countermeasures  to find their way into products</a:t>
            </a:r>
          </a:p>
          <a:p>
            <a:r>
              <a:rPr lang="en-GB" dirty="0">
                <a:solidFill>
                  <a:srgbClr val="00B050"/>
                </a:solidFill>
              </a:rPr>
              <a:t>Fragmented business ecosystem and global supply chains make compliance difficult</a:t>
            </a:r>
          </a:p>
          <a:p>
            <a:r>
              <a:rPr lang="en-GB" dirty="0">
                <a:solidFill>
                  <a:srgbClr val="0070C0"/>
                </a:solidFill>
              </a:rPr>
              <a:t>Legal and regulatory framework lags well behind rate of technology development</a:t>
            </a:r>
          </a:p>
          <a:p>
            <a:r>
              <a:rPr lang="en-GB" dirty="0">
                <a:solidFill>
                  <a:srgbClr val="C00000"/>
                </a:solidFill>
              </a:rPr>
              <a:t>Risk that high costs may result in cybersecurity being given a lower priority than is required</a:t>
            </a:r>
          </a:p>
          <a:p>
            <a:r>
              <a:rPr lang="en-GB" dirty="0">
                <a:solidFill>
                  <a:srgbClr val="FF3399"/>
                </a:solidFill>
              </a:rPr>
              <a:t>Need to think about cybersecurity from the standpoint of Vehicle Lifecycle ( Initial sale – Resale – End of Life )</a:t>
            </a:r>
          </a:p>
        </p:txBody>
      </p:sp>
    </p:spTree>
    <p:extLst>
      <p:ext uri="{BB962C8B-B14F-4D97-AF65-F5344CB8AC3E}">
        <p14:creationId xmlns:p14="http://schemas.microsoft.com/office/powerpoint/2010/main" val="262445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5736" y="2693004"/>
            <a:ext cx="4896544" cy="1096035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GB" sz="54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785665272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astius-training-01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Template_astius-training-01</Template>
  <TotalTime>787</TotalTime>
  <Words>684</Words>
  <Application>Microsoft Office PowerPoint</Application>
  <PresentationFormat>On-screen Show (4:3)</PresentationFormat>
  <Paragraphs>130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9" baseType="lpstr">
      <vt:lpstr>Accord SF</vt:lpstr>
      <vt:lpstr>Arial</vt:lpstr>
      <vt:lpstr>Calibri</vt:lpstr>
      <vt:lpstr>Carlito</vt:lpstr>
      <vt:lpstr>FontAwesome</vt:lpstr>
      <vt:lpstr>Franklin Gothic Demi Cond</vt:lpstr>
      <vt:lpstr>Franklin Gothic Heavy</vt:lpstr>
      <vt:lpstr>Franklin Gothic Medium</vt:lpstr>
      <vt:lpstr>Franklin Gothic Medium Cond</vt:lpstr>
      <vt:lpstr>FrankRuehl</vt:lpstr>
      <vt:lpstr>Gothic720 BT</vt:lpstr>
      <vt:lpstr>Roboto</vt:lpstr>
      <vt:lpstr>Swis721 BT</vt:lpstr>
      <vt:lpstr>Wingdings</vt:lpstr>
      <vt:lpstr>Template_astius-training-01</vt:lpstr>
      <vt:lpstr>Connected Cars &amp; Autonomous Vehicles</vt:lpstr>
      <vt:lpstr>PowerPoint Presentation</vt:lpstr>
      <vt:lpstr>About your presenter</vt:lpstr>
      <vt:lpstr>PowerPoint Presentation</vt:lpstr>
      <vt:lpstr>The story so far …</vt:lpstr>
      <vt:lpstr>Levels of Vehicle Automation</vt:lpstr>
      <vt:lpstr>Technology Timeline</vt:lpstr>
      <vt:lpstr>Recent Highlights</vt:lpstr>
      <vt:lpstr>PowerPoint Presentation</vt:lpstr>
      <vt:lpstr>Attackers have many Faces</vt:lpstr>
      <vt:lpstr>It’s Complicated</vt:lpstr>
      <vt:lpstr>Examples of Risks</vt:lpstr>
      <vt:lpstr>Threats to Infrastructure</vt:lpstr>
      <vt:lpstr>PowerPoint Presentation</vt:lpstr>
      <vt:lpstr>SAE  J3061</vt:lpstr>
      <vt:lpstr>OTA Updates</vt:lpstr>
      <vt:lpstr>Sharing of Expertise</vt:lpstr>
      <vt:lpstr>    Improve Software Quality</vt:lpstr>
      <vt:lpstr>Open Source Activities</vt:lpstr>
      <vt:lpstr>PowerPoint Presentation</vt:lpstr>
      <vt:lpstr>Need for Holistic View</vt:lpstr>
      <vt:lpstr>Two Distinct Cultures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Bill Harpley</dc:creator>
  <cp:lastModifiedBy>Alex Lawrence-Berkeley</cp:lastModifiedBy>
  <cp:revision>107</cp:revision>
  <dcterms:created xsi:type="dcterms:W3CDTF">2017-01-13T17:12:11Z</dcterms:created>
  <dcterms:modified xsi:type="dcterms:W3CDTF">2017-01-20T13:59:18Z</dcterms:modified>
</cp:coreProperties>
</file>